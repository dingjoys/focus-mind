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[morning/afternoon] — today I want to walk you through how LaunchMinds is evolving, from an assistant to something increasingly autonomous, and what that's been like to build on Minds. Our name isn't an accident: Launch, plus Minds. We picked it because Minds is the foundation everything we do stands on — the same role Claude or GPT-4 plays for other companies, Minds plays for us. What you'll see today is proof of what that foundation makes possible, and where we want to take it next,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 marketing today is stitched together by hand — one tool for campaign design, another for deployment, a spreadsheet for resource orchestration, and a person holding it all in their head. That doesn't scale, and it doesn't get smarter over time. We don't think the fix is another point tool. It's a system that reasons across the entire lifecycle — and that requires real intelligence at the core, not automation scripts with an AI label on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[read core line]. Two things are doing the work here, and they're worth separating for this room. Harness is our layer — the proprietary context and memory that make a plan actually understand a specific brand, a specific market, a specific history of what's worked before. Minds is what Harness runs on — the model layer, the actual reasoning underneath every plan we generate. Harness without Minds is just a database. Minds without Harness is generic. Together, that's what makes this Minds-driven, not just Minds-adjacent.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you've watched how coding assistants evolved, you've seen this arc: first, assisted completion — suggestions, not action. Then single-session execution — an agent that completes a full task in one sitting, with a human watching. Then true agent mode — long-running, autonomous, checking its own work. We're building LaunchMinds through that same three-stage arc, applied to brand marketing instead of code. And because we built it Minds-native from the start, each stage is a Minds workflow — not a script with a model bolted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one is done and live. This is assisted completion — Minds helping a human draft a campaign: proposing structure, pulling in context Harness has stored, drafting copy. The human stays in the loop at every step. It's the smallest, safest version of Minds-driven work, and it's already saving our team real hours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two is what's running in production right now. One session, one Mind, handling registration, planning, and deployment end to end — no handoffs between tools. It runs through our internal skill system, which is essentially a set of structured capabilities we hand to Minds so it can act, not just suggest. This is the first stage where Minds does real work autonomously within a session, and it's in daily use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three is our next milestone, and it's the part I think matters most for this room. We're building a per-project workspace where multiple Minds instances run side by side — one planning, one executing, one analyzing results, one adjusting the plan based on what it sees — coordinating with each other in a continuous loop. These aren't roles we're loosely calling 'Minds.' They're literal Minds models, each doing a distinct job, talking to each other. This is the clearest place you'll see what your platform makes possible when we push it toward real multi-agent coordination.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open thread, for full transparency: we're in early conversations with Sapien about the analyze step in that stage-three loop — whether their approach complements what Minds already gives us. To be clear, this is exploration, not a commitment. We want to be upfront about what's decided and what's still being evaluated, because that honesty is part of how we want to build this relationship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So: two stages shipped and running, one stage actively in motion, built on Minds from day one — not as an integration bolted on after the fact, but as the foundation. We're showing you this because we think it's a good answer to the question every platform has to answer eventually: what gets built on top of us? We'd like to keep building that answer together — with your platform, and with your community. Thanks for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5EE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916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5EE6C0"/>
                </a:solidFill>
                <a:latin typeface="Avenir Next"/>
              </a:rPr>
              <a:t>LAUNCHMINDS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0312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F2F4F8"/>
                </a:solidFill>
                <a:latin typeface="Avenir Next"/>
              </a:rPr>
              <a:t>From Assistant</a:t>
            </a:r>
          </a:p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F2F4F8"/>
                </a:solidFill>
                <a:latin typeface="Avenir Next"/>
              </a:rPr>
              <a:t>to Autonomous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1">
                <a:solidFill>
                  <a:srgbClr val="A6AFC2"/>
                </a:solidFill>
                <a:latin typeface="Avenir Next"/>
              </a:rPr>
              <a:t>Built on Minds, from day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663440"/>
            <a:ext cx="9875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A6AFC2"/>
                </a:solidFill>
                <a:latin typeface="Avenir Next"/>
              </a:rPr>
              <a:t>—  AI-native, end-to-end brand marketing platform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A6AFC2"/>
                </a:solidFill>
                <a:latin typeface="Avenir Next"/>
              </a:rPr>
              <a:t>—  Powered by Minds, built with Harness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00">
                <a:solidFill>
                  <a:srgbClr val="A6AFC2"/>
                </a:solidFill>
                <a:latin typeface="Avenir Next"/>
              </a:rPr>
              <a:t>—  A partnership story, not just a product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748C"/>
                </a:solidFill>
                <a:latin typeface="Avenir Next"/>
              </a:rPr>
              <a:t>LaunchMinds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384048" cy="50292"/>
          </a:xfrm>
          <a:prstGeom prst="rect">
            <a:avLst/>
          </a:prstGeom>
          <a:solidFill>
            <a:srgbClr val="5EE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A6AFC2"/>
                </a:solidFill>
                <a:latin typeface="Avenir Next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5029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50" b="0" i="0">
                <a:solidFill>
                  <a:srgbClr val="6B748C"/>
                </a:solidFill>
                <a:latin typeface="Avenir Next"/>
              </a:rPr>
              <a:t>01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2F4F8"/>
                </a:solidFill>
                <a:latin typeface="Avenir Next"/>
              </a:rPr>
              <a:t>Marketing today is stitched</a:t>
            </a:r>
          </a:p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2F4F8"/>
                </a:solidFill>
                <a:latin typeface="Avenir Next"/>
              </a:rPr>
              <a:t>together by hand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4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F2F4F8"/>
                </a:solidFill>
                <a:latin typeface="Avenir Next"/>
              </a:rPr>
              <a:t>—  One tool for campaign design, another for deployment, a spreadsheet for the rest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F2F4F8"/>
                </a:solidFill>
                <a:latin typeface="Avenir Next"/>
              </a:rPr>
              <a:t>—  Campaign design, deployment, resource orchestration — all disconnected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F2F4F8"/>
                </a:solidFill>
                <a:latin typeface="Avenir Next"/>
              </a:rPr>
              <a:t>—  It doesn't scale, and it doesn't get smarter over time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F2F4F8"/>
                </a:solidFill>
                <a:latin typeface="Avenir Next"/>
              </a:rPr>
              <a:t>—  The fix isn't another point tool — it's a system that reasons across the whole lifecycle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748C"/>
                </a:solidFill>
                <a:latin typeface="Avenir Next"/>
              </a:rPr>
              <a:t>LaunchMinds  ·  Built on Minds  ·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384048" cy="50292"/>
          </a:xfrm>
          <a:prstGeom prst="rect">
            <a:avLst/>
          </a:prstGeom>
          <a:solidFill>
            <a:srgbClr val="5EE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A6AFC2"/>
                </a:solidFill>
                <a:latin typeface="Avenir Next"/>
              </a:rPr>
              <a:t>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5029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50" b="0" i="0">
                <a:solidFill>
                  <a:srgbClr val="6B748C"/>
                </a:solidFill>
                <a:latin typeface="Avenir Next"/>
              </a:rPr>
              <a:t>02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2F4F8"/>
                </a:solidFill>
                <a:latin typeface="Avenir Next"/>
              </a:rPr>
              <a:t>LaunchMinds = Harness + Minds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4937760" cy="914400"/>
          </a:xfrm>
          <a:prstGeom prst="roundRect">
            <a:avLst>
              <a:gd name="adj" fmla="val 8000"/>
            </a:avLst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37944"/>
            <a:ext cx="4297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EE6C0"/>
                </a:solidFill>
                <a:latin typeface="Avenir Next"/>
              </a:rPr>
              <a:t>HARNESS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67128"/>
            <a:ext cx="4297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A6AFC2"/>
                </a:solidFill>
                <a:latin typeface="Avenir Next"/>
              </a:rPr>
              <a:t>Context layer — proprietary enterprise memory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60" y="19476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6B748C"/>
                </a:solidFill>
                <a:latin typeface="Avenir Next"/>
              </a:rPr>
              <a:t>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91640"/>
            <a:ext cx="4937760" cy="914400"/>
          </a:xfrm>
          <a:prstGeom prst="roundRect">
            <a:avLst>
              <a:gd name="adj" fmla="val 8000"/>
            </a:avLst>
          </a:prstGeom>
          <a:solidFill>
            <a:srgbClr val="18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73152" cy="91440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37944"/>
            <a:ext cx="4297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7C9CFF"/>
                </a:solidFill>
                <a:latin typeface="Avenir Next"/>
              </a:rPr>
              <a:t>MINDS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167128"/>
            <a:ext cx="4297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A6AFC2"/>
                </a:solidFill>
                <a:latin typeface="Avenir Next"/>
              </a:rPr>
              <a:t>Model layer — the reasoning engine underneath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926080"/>
            <a:ext cx="11155680" cy="1874519"/>
          </a:xfrm>
          <a:prstGeom prst="roundRect">
            <a:avLst>
              <a:gd name="adj" fmla="val 6000"/>
            </a:avLst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926080"/>
            <a:ext cx="82296" cy="1874519"/>
          </a:xfrm>
          <a:prstGeom prst="rect">
            <a:avLst/>
          </a:prstGeom>
          <a:solidFill>
            <a:srgbClr val="5EE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108960"/>
            <a:ext cx="10332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50" b="0" i="1">
                <a:solidFill>
                  <a:srgbClr val="F2F4F8"/>
                </a:solidFill>
                <a:latin typeface="Avenir Next"/>
              </a:rPr>
              <a:t>“LaunchMinds is an AI-native, end-to-end brand marketing platform that leverages Harness to build proprietary enterprise contexts, automating the entire lifecycle from campaign design and multi-platform deployment to resource orchestration.”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07492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1">
                <a:solidFill>
                  <a:srgbClr val="5EE6C0"/>
                </a:solidFill>
                <a:latin typeface="Avenir Next"/>
              </a:rPr>
              <a:t>Harness without Minds is just a database. Minds without Harness is generic.</a:t>
            </a:r>
          </a:p>
          <a:p>
            <a:pPr algn="l">
              <a:lnSpc>
                <a:spcPct val="130000"/>
              </a:lnSpc>
            </a:pPr>
            <a:r>
              <a:rPr sz="1650" b="0" i="1">
                <a:solidFill>
                  <a:srgbClr val="5EE6C0"/>
                </a:solidFill>
                <a:latin typeface="Avenir Next"/>
              </a:rPr>
              <a:t>Together, that's Minds-driven — not just Minds-adjacent.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748C"/>
                </a:solidFill>
                <a:latin typeface="Avenir Next"/>
              </a:rPr>
              <a:t>LaunchMinds  ·  Built on Minds  ·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384048" cy="50292"/>
          </a:xfrm>
          <a:prstGeom prst="rect">
            <a:avLst/>
          </a:prstGeom>
          <a:solidFill>
            <a:srgbClr val="5EE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A6AFC2"/>
                </a:solidFill>
                <a:latin typeface="Avenir Next"/>
              </a:rPr>
              <a:t>THE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5029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50" b="0" i="0">
                <a:solidFill>
                  <a:srgbClr val="6B748C"/>
                </a:solidFill>
                <a:latin typeface="Avenir Next"/>
              </a:rPr>
              <a:t>03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2F4F8"/>
                </a:solidFill>
                <a:latin typeface="Avenir Next"/>
              </a:rPr>
              <a:t>How agents evolve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A6AFC2"/>
                </a:solidFill>
                <a:latin typeface="Avenir Next"/>
              </a:rPr>
              <a:t>The same arc coding tools went through.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A6AFC2"/>
                </a:solidFill>
                <a:latin typeface="Avenir Next"/>
              </a:rPr>
              <a:t>We're climbing it stage by stage — natively on Minds.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34640"/>
            <a:ext cx="3108960" cy="2286000"/>
          </a:xfrm>
          <a:prstGeom prst="roundRect">
            <a:avLst>
              <a:gd name="adj" fmla="val 8000"/>
            </a:avLst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1089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748C"/>
                </a:solidFill>
                <a:latin typeface="Avenir Next"/>
              </a:rPr>
              <a:t>STAGE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1188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2F4F8"/>
                </a:solidFill>
                <a:latin typeface="Avenir Next"/>
              </a:rPr>
              <a:t>Assisted</a:t>
            </a:r>
          </a:p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2F4F8"/>
                </a:solidFill>
                <a:latin typeface="Avenir Next"/>
              </a:rPr>
              <a:t>Completion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370332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A6AFC2"/>
                </a:solidFill>
                <a:latin typeface="Avenir Next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2834640"/>
            <a:ext cx="3108960" cy="2286000"/>
          </a:xfrm>
          <a:prstGeom prst="roundRect">
            <a:avLst>
              <a:gd name="adj" fmla="val 8000"/>
            </a:avLst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31089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7C9CFF"/>
                </a:solidFill>
                <a:latin typeface="Avenir Next"/>
              </a:rPr>
              <a:t>STAGE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61188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2F4F8"/>
                </a:solidFill>
                <a:latin typeface="Avenir Next"/>
              </a:rPr>
              <a:t>Single-Session</a:t>
            </a:r>
          </a:p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2F4F8"/>
                </a:solidFill>
                <a:latin typeface="Avenir Next"/>
              </a:rPr>
              <a:t>Execution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70332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A6AFC2"/>
                </a:solidFill>
                <a:latin typeface="Avenir Next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834640"/>
            <a:ext cx="3108960" cy="2286000"/>
          </a:xfrm>
          <a:prstGeom prst="roundRect">
            <a:avLst>
              <a:gd name="adj" fmla="val 8000"/>
            </a:avLst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31089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5EE6C0"/>
                </a:solidFill>
                <a:latin typeface="Avenir Next"/>
              </a:rPr>
              <a:t>STAGE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61188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2F4F8"/>
                </a:solidFill>
                <a:latin typeface="Avenir Next"/>
              </a:rPr>
              <a:t>Agent</a:t>
            </a:r>
          </a:p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2F4F8"/>
                </a:solidFill>
                <a:latin typeface="Avenir Next"/>
              </a:rPr>
              <a:t>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532120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EE6C0"/>
                </a:solidFill>
                <a:latin typeface="Avenir Next"/>
              </a:rPr>
              <a:t>Each stage is a Minds workflow — not a script with a model bolted 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748C"/>
                </a:solidFill>
                <a:latin typeface="Avenir Next"/>
              </a:rPr>
              <a:t>LaunchMinds  ·  Built on Minds  ·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384048" cy="50292"/>
          </a:xfrm>
          <a:prstGeom prst="rect">
            <a:avLst/>
          </a:prstGeom>
          <a:solidFill>
            <a:srgbClr val="5EE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A6AFC2"/>
                </a:solidFill>
                <a:latin typeface="Avenir Next"/>
              </a:rPr>
              <a:t>THE EVOLUTION · STAGE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5029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50" b="0" i="0">
                <a:solidFill>
                  <a:srgbClr val="6B748C"/>
                </a:solidFill>
                <a:latin typeface="Avenir Next"/>
              </a:rPr>
              <a:t>04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7772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2F4F8"/>
                </a:solidFill>
                <a:latin typeface="Avenir Next"/>
              </a:rPr>
              <a:t>Stage 1: Assisted Completion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0" y="987552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0B0F1A"/>
          </a:solidFill>
          <a:ln w="12700">
            <a:solidFill>
              <a:srgbClr val="6B74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00" b="1">
                <a:solidFill>
                  <a:srgbClr val="6B748C"/>
                </a:solidFill>
                <a:latin typeface="Avenir Next"/>
              </a:rPr>
              <a:t>DONE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5440680" cy="4206240"/>
          </a:xfrm>
          <a:prstGeom prst="roundRect">
            <a:avLst>
              <a:gd name="adj" fmla="val 5000"/>
            </a:avLst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4709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B748C"/>
                </a:solidFill>
                <a:latin typeface="Avenir Next"/>
              </a:rPr>
              <a:t>IN CODING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A6AFC2"/>
                </a:solidFill>
                <a:latin typeface="Avenir Next"/>
              </a:rPr>
              <a:t>Inline suggestions, not 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4709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A6AFC2"/>
                </a:solidFill>
                <a:latin typeface="Avenir Next"/>
              </a:rPr>
              <a:t>—  Suggestions only — human reviews every one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A6AFC2"/>
                </a:solidFill>
                <a:latin typeface="Avenir Next"/>
              </a:rPr>
              <a:t>—  Human stays in control of the outcome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83080"/>
            <a:ext cx="5440680" cy="4206240"/>
          </a:xfrm>
          <a:prstGeom prst="roundRect">
            <a:avLst>
              <a:gd name="adj" fmla="val 5000"/>
            </a:avLst>
          </a:prstGeom>
          <a:solidFill>
            <a:srgbClr val="18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783080"/>
            <a:ext cx="73152" cy="4206240"/>
          </a:xfrm>
          <a:prstGeom prst="rect">
            <a:avLst/>
          </a:prstGeom>
          <a:solidFill>
            <a:srgbClr val="6B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103120"/>
            <a:ext cx="4709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B748C"/>
                </a:solidFill>
                <a:latin typeface="Avenir Next"/>
              </a:rPr>
              <a:t>ON MINDS, IN LAUNCHMINDS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51460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F2F4F8"/>
                </a:solidFill>
                <a:latin typeface="Avenir Next"/>
              </a:rPr>
              <a:t>Minds-assisted campaign drafting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200400"/>
            <a:ext cx="4709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F2F4F8"/>
                </a:solidFill>
                <a:latin typeface="Avenir Next"/>
              </a:rPr>
              <a:t>—  Minds proposes structure, drafts copy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F2F4F8"/>
                </a:solidFill>
                <a:latin typeface="Avenir Next"/>
              </a:rPr>
              <a:t>—  Pulls in context Harness has already stored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F2F4F8"/>
                </a:solidFill>
                <a:latin typeface="Avenir Next"/>
              </a:rPr>
              <a:t>—  Human in the loop at every step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1722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6B748C"/>
                </a:solidFill>
                <a:latin typeface="Avenir Next"/>
              </a:rPr>
              <a:t>Already saving our team real hours today.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748C"/>
                </a:solidFill>
                <a:latin typeface="Avenir Next"/>
              </a:rPr>
              <a:t>LaunchMinds  ·  Built on Minds  ·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384048" cy="50292"/>
          </a:xfrm>
          <a:prstGeom prst="rect">
            <a:avLst/>
          </a:prstGeom>
          <a:solidFill>
            <a:srgbClr val="5EE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A6AFC2"/>
                </a:solidFill>
                <a:latin typeface="Avenir Next"/>
              </a:rPr>
              <a:t>THE EVOLUTION · STAGE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5029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50" b="0" i="0">
                <a:solidFill>
                  <a:srgbClr val="6B748C"/>
                </a:solidFill>
                <a:latin typeface="Avenir Next"/>
              </a:rPr>
              <a:t>05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7772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2F4F8"/>
                </a:solidFill>
                <a:latin typeface="Avenir Next"/>
              </a:rPr>
              <a:t>Stage 2: Single-Session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0" y="9875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0B0F1A"/>
          </a:solidFill>
          <a:ln w="12700">
            <a:solidFill>
              <a:srgbClr val="7C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00" b="1">
                <a:solidFill>
                  <a:srgbClr val="7C9CFF"/>
                </a:solidFill>
                <a:latin typeface="Avenir Next"/>
              </a:rPr>
              <a:t>TODAY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5440680" cy="4206240"/>
          </a:xfrm>
          <a:prstGeom prst="roundRect">
            <a:avLst>
              <a:gd name="adj" fmla="val 5000"/>
            </a:avLst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4709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B748C"/>
                </a:solidFill>
                <a:latin typeface="Avenir Next"/>
              </a:rPr>
              <a:t>IN CODING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A6AFC2"/>
                </a:solidFill>
                <a:latin typeface="Avenir Next"/>
              </a:rPr>
              <a:t>Full task, one sitting, human watching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4709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A6AFC2"/>
                </a:solidFill>
                <a:latin typeface="Avenir Next"/>
              </a:rPr>
              <a:t>—  One session completes an entire task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A6AFC2"/>
                </a:solidFill>
                <a:latin typeface="Avenir Next"/>
              </a:rPr>
              <a:t>—  A human observes, doesn't drive step by step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83080"/>
            <a:ext cx="5440680" cy="4206240"/>
          </a:xfrm>
          <a:prstGeom prst="roundRect">
            <a:avLst>
              <a:gd name="adj" fmla="val 5000"/>
            </a:avLst>
          </a:prstGeom>
          <a:solidFill>
            <a:srgbClr val="18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783080"/>
            <a:ext cx="73152" cy="4206240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103120"/>
            <a:ext cx="4709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C9CFF"/>
                </a:solidFill>
                <a:latin typeface="Avenir Next"/>
              </a:rPr>
              <a:t>ON MINDS, IN LAUNCHMINDS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51460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F2F4F8"/>
                </a:solidFill>
                <a:latin typeface="Avenir Next"/>
              </a:rPr>
              <a:t>One session, one Mind, full 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200400"/>
            <a:ext cx="4709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F2F4F8"/>
                </a:solidFill>
                <a:latin typeface="Avenir Next"/>
              </a:rPr>
              <a:t>—  Registration + planning + deployment — no handoffs between tools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F2F4F8"/>
                </a:solidFill>
                <a:latin typeface="Avenir Next"/>
              </a:rPr>
              <a:t>—  Runs on our internal skill system: structured capabilities we hand to Minds so it can act, not just suggest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F2F4F8"/>
                </a:solidFill>
                <a:latin typeface="Avenir Next"/>
              </a:rPr>
              <a:t>—  Minds doing real autonomous work within a session — live in production today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1722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6B748C"/>
                </a:solidFill>
                <a:latin typeface="Avenir Next"/>
              </a:rPr>
              <a:t>The first stage where Minds truly acts, not just assists.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748C"/>
                </a:solidFill>
                <a:latin typeface="Avenir Next"/>
              </a:rPr>
              <a:t>LaunchMinds  ·  Built on Minds  ·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384048" cy="50292"/>
          </a:xfrm>
          <a:prstGeom prst="rect">
            <a:avLst/>
          </a:prstGeom>
          <a:solidFill>
            <a:srgbClr val="5EE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A6AFC2"/>
                </a:solidFill>
                <a:latin typeface="Avenir Next"/>
              </a:rPr>
              <a:t>THE EVOLUTION · STAGE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5029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50" b="0" i="0">
                <a:solidFill>
                  <a:srgbClr val="6B748C"/>
                </a:solidFill>
                <a:latin typeface="Avenir Next"/>
              </a:rPr>
              <a:t>06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7772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2F4F8"/>
                </a:solidFill>
                <a:latin typeface="Avenir Next"/>
              </a:rPr>
              <a:t>Stage 3: Agent Mode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0" y="987552"/>
            <a:ext cx="2505456" cy="292608"/>
          </a:xfrm>
          <a:prstGeom prst="roundRect">
            <a:avLst>
              <a:gd name="adj" fmla="val 50000"/>
            </a:avLst>
          </a:prstGeom>
          <a:solidFill>
            <a:srgbClr val="0B0F1A"/>
          </a:solidFill>
          <a:ln w="12700">
            <a:solidFill>
              <a:srgbClr val="5EE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00" b="1">
                <a:solidFill>
                  <a:srgbClr val="5EE6C0"/>
                </a:solidFill>
                <a:latin typeface="Avenir Next"/>
              </a:rPr>
              <a:t>NEXT MILESTONE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5440680" cy="4206240"/>
          </a:xfrm>
          <a:prstGeom prst="roundRect">
            <a:avLst>
              <a:gd name="adj" fmla="val 5000"/>
            </a:avLst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4709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6B748C"/>
                </a:solidFill>
                <a:latin typeface="Avenir Next"/>
              </a:rPr>
              <a:t>IN CODING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A6AFC2"/>
                </a:solidFill>
                <a:latin typeface="Avenir Next"/>
              </a:rPr>
              <a:t>Long-running, autonomous, self-checking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4709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A6AFC2"/>
                </a:solidFill>
                <a:latin typeface="Avenir Next"/>
              </a:rPr>
              <a:t>—  Not one session — a persistent, ongoing system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A6AFC2"/>
                </a:solidFill>
                <a:latin typeface="Avenir Next"/>
              </a:rPr>
              <a:t>—  Checks and corrects its own work over 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83080"/>
            <a:ext cx="5440680" cy="4206240"/>
          </a:xfrm>
          <a:prstGeom prst="roundRect">
            <a:avLst>
              <a:gd name="adj" fmla="val 5000"/>
            </a:avLst>
          </a:prstGeom>
          <a:solidFill>
            <a:srgbClr val="18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783080"/>
            <a:ext cx="73152" cy="4206240"/>
          </a:xfrm>
          <a:prstGeom prst="rect">
            <a:avLst/>
          </a:prstGeom>
          <a:solidFill>
            <a:srgbClr val="5EE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103120"/>
            <a:ext cx="4709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6C0"/>
                </a:solidFill>
                <a:latin typeface="Avenir Next"/>
              </a:rPr>
              <a:t>ON MINDS, IN LAUNCHMINDS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51460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F2F4F8"/>
                </a:solidFill>
                <a:latin typeface="Avenir Next"/>
              </a:rPr>
              <a:t>A workspace of multiple Minds instances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200400"/>
            <a:ext cx="4709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F2F4F8"/>
                </a:solidFill>
                <a:latin typeface="Avenir Next"/>
              </a:rPr>
              <a:t>—  Per-project workspace: one Mind plans, one executes, one analyzes, one adjusts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F2F4F8"/>
                </a:solidFill>
                <a:latin typeface="Avenir Next"/>
              </a:rPr>
              <a:t>—  Not roles loosely called “Minds” — literal Minds models, coordinating in a loop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50">
                <a:solidFill>
                  <a:srgbClr val="F2F4F8"/>
                </a:solidFill>
                <a:latin typeface="Avenir Next"/>
              </a:rPr>
              <a:t>—  Where we push toward real multi-agent coordination on your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1722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6B748C"/>
                </a:solidFill>
                <a:latin typeface="Avenir Next"/>
              </a:rPr>
              <a:t>The clearest place you'll see what your platform makes possible.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748C"/>
                </a:solidFill>
                <a:latin typeface="Avenir Next"/>
              </a:rPr>
              <a:t>LaunchMinds  ·  Built on Minds  ·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384048" cy="50292"/>
          </a:xfrm>
          <a:prstGeom prst="rect">
            <a:avLst/>
          </a:prstGeom>
          <a:solidFill>
            <a:srgbClr val="5EE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A6AFC2"/>
                </a:solidFill>
                <a:latin typeface="Avenir Next"/>
              </a:rPr>
              <a:t>EXPLORING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5029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50" b="0" i="0">
                <a:solidFill>
                  <a:srgbClr val="6B748C"/>
                </a:solidFill>
                <a:latin typeface="Avenir Next"/>
              </a:rPr>
              <a:t>07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2F4F8"/>
                </a:solidFill>
                <a:latin typeface="Avenir Next"/>
              </a:rPr>
              <a:t>One open thread: Sapien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3822191" cy="292608"/>
          </a:xfrm>
          <a:prstGeom prst="roundRect">
            <a:avLst>
              <a:gd name="adj" fmla="val 50000"/>
            </a:avLst>
          </a:prstGeom>
          <a:solidFill>
            <a:srgbClr val="0B0F1A"/>
          </a:solidFill>
          <a:ln w="12700">
            <a:solidFill>
              <a:srgbClr val="FFB4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00" b="1">
                <a:solidFill>
                  <a:srgbClr val="FFB46C"/>
                </a:solidFill>
                <a:latin typeface="Avenir Next"/>
              </a:rPr>
              <a:t>EXPLORING · EARLY STAGE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33172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F2F4F8"/>
                </a:solidFill>
                <a:latin typeface="Avenir Next"/>
              </a:rPr>
              <a:t>—  Early conversations, not finalized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F2F4F8"/>
                </a:solidFill>
                <a:latin typeface="Avenir Next"/>
              </a:rPr>
              <a:t>—  Potential collaboration on the “analyze” step of the Stage 3 loop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F2F4F8"/>
                </a:solidFill>
                <a:latin typeface="Avenir Next"/>
              </a:rPr>
              <a:t>—  Evaluating whether their approach complements what Minds already gives us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>
                <a:solidFill>
                  <a:srgbClr val="F2F4F8"/>
                </a:solidFill>
                <a:latin typeface="Avenir Next"/>
              </a:rPr>
              <a:t>—  Full transparency: exploration, not a commitment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748C"/>
                </a:solidFill>
                <a:latin typeface="Avenir Next"/>
              </a:rPr>
              <a:t>LaunchMinds  ·  Built on Minds  · 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384048" cy="50292"/>
          </a:xfrm>
          <a:prstGeom prst="rect">
            <a:avLst/>
          </a:prstGeom>
          <a:solidFill>
            <a:srgbClr val="5EE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A6AFC2"/>
                </a:solidFill>
                <a:latin typeface="Avenir Next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50292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50" b="0" i="0">
                <a:solidFill>
                  <a:srgbClr val="6B748C"/>
                </a:solidFill>
                <a:latin typeface="Avenir Next"/>
              </a:rPr>
              <a:t>08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2F4F8"/>
                </a:solidFill>
                <a:latin typeface="Avenir Next"/>
              </a:rPr>
              <a:t>Built on Minds — with Minds' community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3337560" cy="1554480"/>
          </a:xfrm>
          <a:prstGeom prst="roundRect">
            <a:avLst>
              <a:gd name="adj" fmla="val 8000"/>
            </a:avLst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3337560" cy="64008"/>
          </a:xfrm>
          <a:prstGeom prst="rect">
            <a:avLst/>
          </a:prstGeom>
          <a:solidFill>
            <a:srgbClr val="6B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788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6B748C"/>
                </a:solidFill>
                <a:latin typeface="Avenir Next"/>
              </a:rPr>
              <a:t>Stage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2788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F2F4F8"/>
                </a:solidFill>
                <a:latin typeface="Avenir Next"/>
              </a:rPr>
              <a:t>Minds-assisted drafting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971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0B0F1A"/>
          </a:solidFill>
          <a:ln w="12700">
            <a:solidFill>
              <a:srgbClr val="6B74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00" b="1">
                <a:solidFill>
                  <a:srgbClr val="6B748C"/>
                </a:solidFill>
                <a:latin typeface="Avenir Next"/>
              </a:rPr>
              <a:t>DONE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828800"/>
            <a:ext cx="3337560" cy="1554480"/>
          </a:xfrm>
          <a:prstGeom prst="roundRect">
            <a:avLst>
              <a:gd name="adj" fmla="val 8000"/>
            </a:avLst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828800"/>
            <a:ext cx="3337560" cy="64008"/>
          </a:xfrm>
          <a:prstGeom prst="rect">
            <a:avLst/>
          </a:prstGeom>
          <a:solidFill>
            <a:srgbClr val="7C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057400"/>
            <a:ext cx="2788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7C9CFF"/>
                </a:solidFill>
                <a:latin typeface="Avenir Next"/>
              </a:rPr>
              <a:t>Stage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423160"/>
            <a:ext cx="2788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F2F4F8"/>
                </a:solidFill>
                <a:latin typeface="Avenir Next"/>
              </a:rPr>
              <a:t>One Mind, full session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7720" y="29718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0B0F1A"/>
          </a:solidFill>
          <a:ln w="12700">
            <a:solidFill>
              <a:srgbClr val="7C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00" b="1">
                <a:solidFill>
                  <a:srgbClr val="7C9CFF"/>
                </a:solidFill>
                <a:latin typeface="Avenir Next"/>
              </a:rPr>
              <a:t>TODAY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28800"/>
            <a:ext cx="3337560" cy="1554480"/>
          </a:xfrm>
          <a:prstGeom prst="roundRect">
            <a:avLst>
              <a:gd name="adj" fmla="val 8000"/>
            </a:avLst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828800"/>
            <a:ext cx="3337560" cy="64008"/>
          </a:xfrm>
          <a:prstGeom prst="rect">
            <a:avLst/>
          </a:prstGeom>
          <a:solidFill>
            <a:srgbClr val="5EE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199" y="2057400"/>
            <a:ext cx="2788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EE6C0"/>
                </a:solidFill>
                <a:latin typeface="Avenir Next"/>
              </a:rPr>
              <a:t>Stage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199" y="2423160"/>
            <a:ext cx="2788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F2F4F8"/>
                </a:solidFill>
                <a:latin typeface="Avenir Next"/>
              </a:rPr>
              <a:t>Multi-Mind workspace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58199" y="2971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0B0F1A"/>
          </a:solidFill>
          <a:ln w="12700">
            <a:solidFill>
              <a:srgbClr val="5EE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00" b="1">
                <a:solidFill>
                  <a:srgbClr val="5EE6C0"/>
                </a:solidFill>
                <a:latin typeface="Avenir Next"/>
              </a:rPr>
              <a:t>NEXT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65760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5EE6C0"/>
                </a:solidFill>
                <a:latin typeface="Avenir Next"/>
              </a:rPr>
              <a:t>Not an integration bolted on after the fact — built on Minds from day one.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34840"/>
            <a:ext cx="111556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F2F4F8"/>
                </a:solidFill>
                <a:latin typeface="Avenir Next"/>
              </a:rPr>
              <a:t>What gets built on top of a platform is the best answer</a:t>
            </a:r>
          </a:p>
          <a:p>
            <a:pPr algn="l">
              <a:lnSpc>
                <a:spcPct val="120000"/>
              </a:lnSpc>
            </a:pPr>
            <a:r>
              <a:rPr sz="2500" b="1" i="0">
                <a:solidFill>
                  <a:srgbClr val="F2F4F8"/>
                </a:solidFill>
                <a:latin typeface="Avenir Next"/>
              </a:rPr>
              <a:t>a platform can have.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623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 i="1">
                <a:solidFill>
                  <a:srgbClr val="A6AFC2"/>
                </a:solidFill>
                <a:latin typeface="Avenir Next"/>
              </a:rPr>
              <a:t>We'd like to keep building that answer together — with your platform, and with your community.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14476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A6AFC2"/>
                </a:solidFill>
                <a:latin typeface="Avenir Next"/>
              </a:rPr>
              <a:t>Thank you.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B748C"/>
                </a:solidFill>
                <a:latin typeface="Avenir Next"/>
              </a:rPr>
              <a:t>LaunchMinds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