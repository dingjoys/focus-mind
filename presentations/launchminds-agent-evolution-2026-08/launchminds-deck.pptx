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Thanks everyone. Today I want to walk you through LaunchMinds — not just what it does, but how it's evolving, and where it's headed next. Our founding idea has always been simple: don't give brands a better tool to run campaigns — have AI figure out the campaign strategy for them. Everything we've built follows from that one 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Anyone who's run a brand campaign knows the pain. You're juggling five tools to plan it, another few to launch it across Twitter, Discord, Telegram, on-chain — and then performance data sits in a spreadsheet nobody revisits. There's no loop. Every campaign starts from scratch. That's the gap we built LaunchMinds to close.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we describe ourselves today: LaunchMinds is an AI-native, end-to-end brand marketing platform that leverages Harness to build proprietary enterprise contexts — automating the entire lifecycle from campaign design and multi-platform deployment to resource orchestration. In plain terms: we turn a messy marketing problem into a structured, actionable workflow, and that workflow is what drives scalable growth. Harness is the core of that — it's how we build a persistent, proprietary understanding of a brand, and everything downstream runs on top of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explain where LaunchMinds is headed, I want to borrow an analogy from something we all live in daily: how AI-assisted coding has evolved. It went through three distinct stages — and LaunchMinds is climbing that same ladder, one rung behind but on the same trajectory. Let's walk through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one in coding was inline completion — tools like early Copilot suggesting the next few lines while a human still drove the whole thing. That was LaunchMinds' starting point too. Our AI helped generate campaign content — task descriptions, narrative copy — but a person still designed the strategy and assembled every piece by hand. Useful, but narrow.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two in coding is where a single session can take a full task description and just execute it, start to finish, in one sitting. That's exactly where LaunchMinds is right now. Today, one session handles project registration, campaign strategy planning, and deployment to the platform — all in one pass. It's powered by our internal skill system, which encodes the entire campaign schema and workflow, so we go from a brief to a live campaign without switching tools or people. This is shipped. This is real, working today.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three in coding is agent mode — not one bounded session, but a persistent system of multiple agents, each with a role, coordinating over time. That's the milestone we're now chasing. We're building a persistent workspace for every project, seeded by Harness — our proprietary brand context. Inside it, multiple 'Minds' divide the labor: one plans the marketing strategy, one executes and deploys it, one analyzes how the campaign actually performed, and one feeds that analysis back into the next round's plan. Not one-shot — a continuous, self-improving loop.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piece of that loop deserves special mention: the analysis Mind. Marketing attribution is hard to get right, and we want it to be genuinely rigorous, not just a dashboard. So we're currently exploring a collaboration with Sapien, with the goal of combining forces to deliver the most professional, rigorous marketing analysis in the space. It's early — an active conversation, not a done deal — but it's a direction we're excited about.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to recap: we've already lived through the first two stages ourselves — content assistance, then full single-session execution, which is running today. The next milestone we're chasing is agent mode: persistent, per-brand workspaces where multiple Minds plan, execute, analyze, and adjust in a continuous loop. That's how we turn complex marketing needs into structured, actionable workflows — and that's what drives scalable user growth and real brand impact. We've built the first two stages. Now we're building the third.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965960"/>
            <a:ext cx="10058400" cy="457200"/>
          </a:xfrm>
          <a:prstGeom prst="rect">
            <a:avLst/>
          </a:prstGeom>
          <a:noFill/>
        </p:spPr>
        <p:txBody>
          <a:bodyPr wrap="square" anchor="t">
            <a:spAutoFit/>
          </a:bodyPr>
          <a:lstStyle/>
          <a:p>
            <a:pPr algn="l">
              <a:lnSpc>
                <a:spcPct val="115000"/>
              </a:lnSpc>
            </a:pPr>
            <a:r>
              <a:rPr sz="2000" b="1" i="0">
                <a:solidFill>
                  <a:srgbClr val="5EE6C0"/>
                </a:solidFill>
                <a:latin typeface="Avenir Next"/>
              </a:rPr>
              <a:t>LAUNCHMINDS</a:t>
            </a:r>
          </a:p>
        </p:txBody>
      </p:sp>
      <p:sp>
        <p:nvSpPr>
          <p:cNvPr id="4" name="TextBox 3"/>
          <p:cNvSpPr txBox="1"/>
          <p:nvPr/>
        </p:nvSpPr>
        <p:spPr>
          <a:xfrm>
            <a:off x="777240" y="2377440"/>
            <a:ext cx="10515600" cy="1463040"/>
          </a:xfrm>
          <a:prstGeom prst="rect">
            <a:avLst/>
          </a:prstGeom>
          <a:noFill/>
        </p:spPr>
        <p:txBody>
          <a:bodyPr wrap="square" anchor="t">
            <a:spAutoFit/>
          </a:bodyPr>
          <a:lstStyle/>
          <a:p>
            <a:pPr algn="l">
              <a:lnSpc>
                <a:spcPct val="105000"/>
              </a:lnSpc>
            </a:pPr>
            <a:r>
              <a:rPr sz="5400" b="1" i="0">
                <a:solidFill>
                  <a:srgbClr val="F2F4F8"/>
                </a:solidFill>
                <a:latin typeface="Avenir Next"/>
              </a:rPr>
              <a:t>From Assistant</a:t>
            </a:r>
          </a:p>
          <a:p>
            <a:pPr algn="l">
              <a:lnSpc>
                <a:spcPct val="105000"/>
              </a:lnSpc>
            </a:pPr>
            <a:r>
              <a:rPr sz="5400" b="1" i="0">
                <a:solidFill>
                  <a:srgbClr val="F2F4F8"/>
                </a:solidFill>
                <a:latin typeface="Avenir Next"/>
              </a:rPr>
              <a:t>to Autonomous</a:t>
            </a:r>
          </a:p>
        </p:txBody>
      </p:sp>
      <p:sp>
        <p:nvSpPr>
          <p:cNvPr id="5" name="TextBox 4"/>
          <p:cNvSpPr txBox="1"/>
          <p:nvPr/>
        </p:nvSpPr>
        <p:spPr>
          <a:xfrm>
            <a:off x="822960" y="3977639"/>
            <a:ext cx="9601200" cy="548640"/>
          </a:xfrm>
          <a:prstGeom prst="rect">
            <a:avLst/>
          </a:prstGeom>
          <a:noFill/>
        </p:spPr>
        <p:txBody>
          <a:bodyPr wrap="square" anchor="t">
            <a:spAutoFit/>
          </a:bodyPr>
          <a:lstStyle/>
          <a:p>
            <a:pPr algn="l">
              <a:lnSpc>
                <a:spcPct val="115000"/>
              </a:lnSpc>
            </a:pPr>
            <a:r>
              <a:rPr sz="1900" b="0" i="1">
                <a:solidFill>
                  <a:srgbClr val="A6AFC2"/>
                </a:solidFill>
                <a:latin typeface="Avenir Next"/>
              </a:rPr>
              <a:t>How we're teaching AI to run the entire brand campaign lifecycle</a:t>
            </a:r>
          </a:p>
        </p:txBody>
      </p:sp>
      <p:sp>
        <p:nvSpPr>
          <p:cNvPr id="6" name="TextBox 5"/>
          <p:cNvSpPr txBox="1"/>
          <p:nvPr/>
        </p:nvSpPr>
        <p:spPr>
          <a:xfrm>
            <a:off x="822960" y="4800600"/>
            <a:ext cx="9875520" cy="1463040"/>
          </a:xfrm>
          <a:prstGeom prst="rect">
            <a:avLst/>
          </a:prstGeom>
          <a:noFill/>
        </p:spPr>
        <p:txBody>
          <a:bodyPr wrap="square">
            <a:spAutoFit/>
          </a:bodyPr>
          <a:lstStyle/>
          <a:p>
            <a:pPr>
              <a:lnSpc>
                <a:spcPct val="120000"/>
              </a:lnSpc>
              <a:spcAft>
                <a:spcPts val="800"/>
              </a:spcAft>
            </a:pPr>
            <a:r>
              <a:rPr sz="1500">
                <a:solidFill>
                  <a:srgbClr val="A6AFC2"/>
                </a:solidFill>
                <a:latin typeface="Avenir Next"/>
              </a:rPr>
              <a:t>—  AI-native, end-to-end brand marketing platform</a:t>
            </a:r>
          </a:p>
          <a:p>
            <a:pPr>
              <a:lnSpc>
                <a:spcPct val="120000"/>
              </a:lnSpc>
              <a:spcAft>
                <a:spcPts val="800"/>
              </a:spcAft>
            </a:pPr>
            <a:r>
              <a:rPr sz="1500">
                <a:solidFill>
                  <a:srgbClr val="A6AFC2"/>
                </a:solidFill>
                <a:latin typeface="Avenir Next"/>
              </a:rPr>
              <a:t>—  Not a better tool — AI that figures out the strategy</a:t>
            </a:r>
          </a:p>
          <a:p>
            <a:pPr>
              <a:lnSpc>
                <a:spcPct val="120000"/>
              </a:lnSpc>
              <a:spcAft>
                <a:spcPts val="800"/>
              </a:spcAft>
            </a:pPr>
            <a:r>
              <a:rPr sz="1500">
                <a:solidFill>
                  <a:srgbClr val="A6AFC2"/>
                </a:solidFill>
                <a:latin typeface="Avenir Next"/>
              </a:rPr>
              <a:t>—  Today: where we are, and where we're going next</a:t>
            </a:r>
          </a:p>
        </p:txBody>
      </p:sp>
      <p:sp>
        <p:nvSpPr>
          <p:cNvPr id="7" name="TextBox 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PROBLEM</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01 / 08</a:t>
            </a:r>
          </a:p>
        </p:txBody>
      </p:sp>
      <p:sp>
        <p:nvSpPr>
          <p:cNvPr id="5" name="TextBox 4"/>
          <p:cNvSpPr txBox="1"/>
          <p:nvPr/>
        </p:nvSpPr>
        <p:spPr>
          <a:xfrm>
            <a:off x="502920" y="960120"/>
            <a:ext cx="10515600" cy="822960"/>
          </a:xfrm>
          <a:prstGeom prst="rect">
            <a:avLst/>
          </a:prstGeom>
          <a:noFill/>
        </p:spPr>
        <p:txBody>
          <a:bodyPr wrap="square" anchor="t">
            <a:spAutoFit/>
          </a:bodyPr>
          <a:lstStyle/>
          <a:p>
            <a:pPr algn="l">
              <a:lnSpc>
                <a:spcPct val="115000"/>
              </a:lnSpc>
            </a:pPr>
            <a:r>
              <a:rPr sz="3600" b="1" i="0">
                <a:solidFill>
                  <a:srgbClr val="F2F4F8"/>
                </a:solidFill>
                <a:latin typeface="Avenir Next"/>
              </a:rPr>
              <a:t>Brand marketing today is fragmented</a:t>
            </a:r>
          </a:p>
        </p:txBody>
      </p:sp>
      <p:sp>
        <p:nvSpPr>
          <p:cNvPr id="6" name="TextBox 5"/>
          <p:cNvSpPr txBox="1"/>
          <p:nvPr/>
        </p:nvSpPr>
        <p:spPr>
          <a:xfrm>
            <a:off x="502920" y="2194560"/>
            <a:ext cx="10515600" cy="2926080"/>
          </a:xfrm>
          <a:prstGeom prst="rect">
            <a:avLst/>
          </a:prstGeom>
          <a:noFill/>
        </p:spPr>
        <p:txBody>
          <a:bodyPr wrap="square">
            <a:spAutoFit/>
          </a:bodyPr>
          <a:lstStyle/>
          <a:p>
            <a:pPr>
              <a:lnSpc>
                <a:spcPct val="120000"/>
              </a:lnSpc>
              <a:spcAft>
                <a:spcPts val="2000"/>
              </a:spcAft>
            </a:pPr>
            <a:r>
              <a:rPr sz="2000">
                <a:solidFill>
                  <a:srgbClr val="F2F4F8"/>
                </a:solidFill>
                <a:latin typeface="Avenir Next"/>
              </a:rPr>
              <a:t>—  Campaign marketing is fragmented across tools</a:t>
            </a:r>
          </a:p>
          <a:p>
            <a:pPr>
              <a:lnSpc>
                <a:spcPct val="120000"/>
              </a:lnSpc>
              <a:spcAft>
                <a:spcPts val="2000"/>
              </a:spcAft>
            </a:pPr>
            <a:r>
              <a:rPr sz="2000">
                <a:solidFill>
                  <a:srgbClr val="F2F4F8"/>
                </a:solidFill>
                <a:latin typeface="Avenir Next"/>
              </a:rPr>
              <a:t>—  Strategy is manual, slow, and inconsistent</a:t>
            </a:r>
          </a:p>
          <a:p>
            <a:pPr>
              <a:lnSpc>
                <a:spcPct val="120000"/>
              </a:lnSpc>
              <a:spcAft>
                <a:spcPts val="2000"/>
              </a:spcAft>
            </a:pPr>
            <a:r>
              <a:rPr sz="2000">
                <a:solidFill>
                  <a:srgbClr val="F2F4F8"/>
                </a:solidFill>
                <a:latin typeface="Avenir Next"/>
              </a:rPr>
              <a:t>—  Execution and analysis live in separate silos</a:t>
            </a:r>
          </a:p>
          <a:p>
            <a:pPr>
              <a:lnSpc>
                <a:spcPct val="120000"/>
              </a:lnSpc>
              <a:spcAft>
                <a:spcPts val="2000"/>
              </a:spcAft>
            </a:pPr>
            <a:r>
              <a:rPr sz="2000">
                <a:solidFill>
                  <a:srgbClr val="F2F4F8"/>
                </a:solidFill>
                <a:latin typeface="Avenir Next"/>
              </a:rPr>
              <a:t>—  No real feedback loop back into the next campaign</a:t>
            </a:r>
          </a:p>
        </p:txBody>
      </p:sp>
      <p:sp>
        <p:nvSpPr>
          <p:cNvPr id="7" name="TextBox 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From Assistant to Autonomous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POSITIONING</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02 / 08</a:t>
            </a:r>
          </a:p>
        </p:txBody>
      </p:sp>
      <p:sp>
        <p:nvSpPr>
          <p:cNvPr id="5" name="TextBox 4"/>
          <p:cNvSpPr txBox="1"/>
          <p:nvPr/>
        </p:nvSpPr>
        <p:spPr>
          <a:xfrm>
            <a:off x="502920" y="960120"/>
            <a:ext cx="10515600" cy="640080"/>
          </a:xfrm>
          <a:prstGeom prst="rect">
            <a:avLst/>
          </a:prstGeom>
          <a:noFill/>
        </p:spPr>
        <p:txBody>
          <a:bodyPr wrap="square" anchor="t">
            <a:spAutoFit/>
          </a:bodyPr>
          <a:lstStyle/>
          <a:p>
            <a:pPr algn="l">
              <a:lnSpc>
                <a:spcPct val="115000"/>
              </a:lnSpc>
            </a:pPr>
            <a:r>
              <a:rPr sz="3600" b="1" i="0">
                <a:solidFill>
                  <a:srgbClr val="F2F4F8"/>
                </a:solidFill>
                <a:latin typeface="Avenir Next"/>
              </a:rPr>
              <a:t>What LaunchMinds is, today</a:t>
            </a:r>
          </a:p>
        </p:txBody>
      </p:sp>
      <p:sp>
        <p:nvSpPr>
          <p:cNvPr id="6" name="Rounded Rectangle 5"/>
          <p:cNvSpPr/>
          <p:nvPr/>
        </p:nvSpPr>
        <p:spPr>
          <a:xfrm>
            <a:off x="502920" y="1874519"/>
            <a:ext cx="11155680" cy="2331720"/>
          </a:xfrm>
          <a:prstGeom prst="roundRect">
            <a:avLst>
              <a:gd name="adj" fmla="val 6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874519"/>
            <a:ext cx="82296" cy="2331720"/>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2103120"/>
            <a:ext cx="10332720" cy="1920240"/>
          </a:xfrm>
          <a:prstGeom prst="rect">
            <a:avLst/>
          </a:prstGeom>
          <a:noFill/>
        </p:spPr>
        <p:txBody>
          <a:bodyPr wrap="square" anchor="t">
            <a:spAutoFit/>
          </a:bodyPr>
          <a:lstStyle/>
          <a:p>
            <a:pPr algn="l">
              <a:lnSpc>
                <a:spcPct val="130000"/>
              </a:lnSpc>
            </a:pPr>
            <a:r>
              <a:rPr sz="2200" b="0" i="1">
                <a:solidFill>
                  <a:srgbClr val="F2F4F8"/>
                </a:solidFill>
                <a:latin typeface="Avenir Next"/>
              </a:rPr>
              <a:t>“LaunchMinds is an AI-native, end-to-end brand marketing platform that leverages Harness to build proprietary enterprise contexts, automating the entire lifecycle from campaign design and multi-platform deployment to resource orchestration.”</a:t>
            </a:r>
          </a:p>
        </p:txBody>
      </p:sp>
      <p:sp>
        <p:nvSpPr>
          <p:cNvPr id="9" name="TextBox 8"/>
          <p:cNvSpPr txBox="1"/>
          <p:nvPr/>
        </p:nvSpPr>
        <p:spPr>
          <a:xfrm>
            <a:off x="502920" y="4526280"/>
            <a:ext cx="10515600" cy="1463040"/>
          </a:xfrm>
          <a:prstGeom prst="rect">
            <a:avLst/>
          </a:prstGeom>
          <a:noFill/>
        </p:spPr>
        <p:txBody>
          <a:bodyPr wrap="square">
            <a:spAutoFit/>
          </a:bodyPr>
          <a:lstStyle/>
          <a:p>
            <a:pPr>
              <a:lnSpc>
                <a:spcPct val="120000"/>
              </a:lnSpc>
              <a:spcAft>
                <a:spcPts val="1000"/>
              </a:spcAft>
            </a:pPr>
            <a:r>
              <a:rPr sz="1650">
                <a:solidFill>
                  <a:srgbClr val="A6AFC2"/>
                </a:solidFill>
                <a:latin typeface="Avenir Next"/>
              </a:rPr>
              <a:t>—  Transforms complex marketing needs into structured, actionable workflows</a:t>
            </a:r>
          </a:p>
          <a:p>
            <a:pPr>
              <a:lnSpc>
                <a:spcPct val="120000"/>
              </a:lnSpc>
              <a:spcAft>
                <a:spcPts val="1000"/>
              </a:spcAft>
            </a:pPr>
            <a:r>
              <a:rPr sz="1650">
                <a:solidFill>
                  <a:srgbClr val="A6AFC2"/>
                </a:solidFill>
                <a:latin typeface="Avenir Next"/>
              </a:rPr>
              <a:t>—  Drives scalable user growth and brand impact</a:t>
            </a:r>
          </a:p>
          <a:p>
            <a:pPr>
              <a:lnSpc>
                <a:spcPct val="120000"/>
              </a:lnSpc>
              <a:spcAft>
                <a:spcPts val="1000"/>
              </a:spcAft>
            </a:pPr>
            <a:r>
              <a:rPr sz="1650">
                <a:solidFill>
                  <a:srgbClr val="A6AFC2"/>
                </a:solidFill>
                <a:latin typeface="Avenir Next"/>
              </a:rPr>
              <a:t>—  Harness = the mechanism that builds a persistent, proprietary brand context</a:t>
            </a:r>
          </a:p>
        </p:txBody>
      </p:sp>
      <p:sp>
        <p:nvSpPr>
          <p:cNvPr id="10" name="TextBox 9"/>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From Assistant to Autonomous  ·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FRAMEWORK</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03 / 08</a:t>
            </a:r>
          </a:p>
        </p:txBody>
      </p:sp>
      <p:sp>
        <p:nvSpPr>
          <p:cNvPr id="5" name="TextBox 4"/>
          <p:cNvSpPr txBox="1"/>
          <p:nvPr/>
        </p:nvSpPr>
        <p:spPr>
          <a:xfrm>
            <a:off x="502920" y="960120"/>
            <a:ext cx="10515600" cy="640080"/>
          </a:xfrm>
          <a:prstGeom prst="rect">
            <a:avLst/>
          </a:prstGeom>
          <a:noFill/>
        </p:spPr>
        <p:txBody>
          <a:bodyPr wrap="square" anchor="t">
            <a:spAutoFit/>
          </a:bodyPr>
          <a:lstStyle/>
          <a:p>
            <a:pPr algn="l">
              <a:lnSpc>
                <a:spcPct val="115000"/>
              </a:lnSpc>
            </a:pPr>
            <a:r>
              <a:rPr sz="3600" b="1" i="0">
                <a:solidFill>
                  <a:srgbClr val="F2F4F8"/>
                </a:solidFill>
                <a:latin typeface="Avenir Next"/>
              </a:rPr>
              <a:t>A familiar pattern</a:t>
            </a:r>
          </a:p>
        </p:txBody>
      </p:sp>
      <p:sp>
        <p:nvSpPr>
          <p:cNvPr id="6" name="TextBox 5"/>
          <p:cNvSpPr txBox="1"/>
          <p:nvPr/>
        </p:nvSpPr>
        <p:spPr>
          <a:xfrm>
            <a:off x="502920" y="1691640"/>
            <a:ext cx="10789920" cy="822960"/>
          </a:xfrm>
          <a:prstGeom prst="rect">
            <a:avLst/>
          </a:prstGeom>
          <a:noFill/>
        </p:spPr>
        <p:txBody>
          <a:bodyPr wrap="square" anchor="t">
            <a:spAutoFit/>
          </a:bodyPr>
          <a:lstStyle/>
          <a:p>
            <a:pPr algn="l">
              <a:lnSpc>
                <a:spcPct val="130000"/>
              </a:lnSpc>
            </a:pPr>
            <a:r>
              <a:rPr sz="1800" b="0" i="0">
                <a:solidFill>
                  <a:srgbClr val="A6AFC2"/>
                </a:solidFill>
                <a:latin typeface="Avenir Next"/>
              </a:rPr>
              <a:t>AI-assisted coding evolved through three recognizable stages.</a:t>
            </a:r>
          </a:p>
          <a:p>
            <a:pPr algn="l">
              <a:lnSpc>
                <a:spcPct val="130000"/>
              </a:lnSpc>
            </a:pPr>
            <a:r>
              <a:rPr sz="1800" b="0" i="0">
                <a:solidFill>
                  <a:srgbClr val="A6AFC2"/>
                </a:solidFill>
                <a:latin typeface="Avenir Next"/>
              </a:rPr>
              <a:t>LaunchMinds is climbing the exact same ladder.</a:t>
            </a:r>
          </a:p>
        </p:txBody>
      </p:sp>
      <p:sp>
        <p:nvSpPr>
          <p:cNvPr id="7" name="Rounded Rectangle 6"/>
          <p:cNvSpPr/>
          <p:nvPr/>
        </p:nvSpPr>
        <p:spPr>
          <a:xfrm>
            <a:off x="822960" y="2834640"/>
            <a:ext cx="3108960" cy="228600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108960"/>
            <a:ext cx="3108960" cy="365760"/>
          </a:xfrm>
          <a:prstGeom prst="rect">
            <a:avLst/>
          </a:prstGeom>
          <a:noFill/>
        </p:spPr>
        <p:txBody>
          <a:bodyPr wrap="square" anchor="t">
            <a:spAutoFit/>
          </a:bodyPr>
          <a:lstStyle/>
          <a:p>
            <a:pPr algn="ctr">
              <a:lnSpc>
                <a:spcPct val="115000"/>
              </a:lnSpc>
            </a:pPr>
            <a:r>
              <a:rPr sz="1300" b="1" i="0">
                <a:solidFill>
                  <a:srgbClr val="6B748C"/>
                </a:solidFill>
                <a:latin typeface="Avenir Next"/>
              </a:rPr>
              <a:t>STAGE 1</a:t>
            </a:r>
          </a:p>
        </p:txBody>
      </p:sp>
      <p:sp>
        <p:nvSpPr>
          <p:cNvPr id="9" name="TextBox 8"/>
          <p:cNvSpPr txBox="1"/>
          <p:nvPr/>
        </p:nvSpPr>
        <p:spPr>
          <a:xfrm>
            <a:off x="822960" y="3611880"/>
            <a:ext cx="3108960" cy="1097280"/>
          </a:xfrm>
          <a:prstGeom prst="rect">
            <a:avLst/>
          </a:prstGeom>
          <a:noFill/>
        </p:spPr>
        <p:txBody>
          <a:bodyPr wrap="square" anchor="t">
            <a:spAutoFit/>
          </a:bodyPr>
          <a:lstStyle/>
          <a:p>
            <a:pPr algn="ctr">
              <a:lnSpc>
                <a:spcPct val="115000"/>
              </a:lnSpc>
            </a:pPr>
            <a:r>
              <a:rPr sz="2200" b="1" i="0">
                <a:solidFill>
                  <a:srgbClr val="F2F4F8"/>
                </a:solidFill>
                <a:latin typeface="Avenir Next"/>
              </a:rPr>
              <a:t>Assisted</a:t>
            </a:r>
          </a:p>
          <a:p>
            <a:pPr algn="ctr">
              <a:lnSpc>
                <a:spcPct val="115000"/>
              </a:lnSpc>
            </a:pPr>
            <a:r>
              <a:rPr sz="2200" b="1" i="0">
                <a:solidFill>
                  <a:srgbClr val="F2F4F8"/>
                </a:solidFill>
                <a:latin typeface="Avenir Next"/>
              </a:rPr>
              <a:t>Completion</a:t>
            </a:r>
          </a:p>
        </p:txBody>
      </p:sp>
      <p:sp>
        <p:nvSpPr>
          <p:cNvPr id="10" name="TextBox 9"/>
          <p:cNvSpPr txBox="1"/>
          <p:nvPr/>
        </p:nvSpPr>
        <p:spPr>
          <a:xfrm>
            <a:off x="3977640" y="3703320"/>
            <a:ext cx="457200" cy="548640"/>
          </a:xfrm>
          <a:prstGeom prst="rect">
            <a:avLst/>
          </a:prstGeom>
          <a:noFill/>
        </p:spPr>
        <p:txBody>
          <a:bodyPr wrap="square" anchor="t">
            <a:spAutoFit/>
          </a:bodyPr>
          <a:lstStyle/>
          <a:p>
            <a:pPr algn="ctr">
              <a:lnSpc>
                <a:spcPct val="115000"/>
              </a:lnSpc>
            </a:pPr>
            <a:r>
              <a:rPr sz="3000" b="0" i="0">
                <a:solidFill>
                  <a:srgbClr val="A6AFC2"/>
                </a:solidFill>
                <a:latin typeface="Avenir Next"/>
              </a:rPr>
              <a:t>→</a:t>
            </a:r>
          </a:p>
        </p:txBody>
      </p:sp>
      <p:sp>
        <p:nvSpPr>
          <p:cNvPr id="11" name="Rounded Rectangle 10"/>
          <p:cNvSpPr/>
          <p:nvPr/>
        </p:nvSpPr>
        <p:spPr>
          <a:xfrm>
            <a:off x="4526280" y="2834640"/>
            <a:ext cx="3108960" cy="228600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3108960"/>
            <a:ext cx="3108960" cy="365760"/>
          </a:xfrm>
          <a:prstGeom prst="rect">
            <a:avLst/>
          </a:prstGeom>
          <a:noFill/>
        </p:spPr>
        <p:txBody>
          <a:bodyPr wrap="square" anchor="t">
            <a:spAutoFit/>
          </a:bodyPr>
          <a:lstStyle/>
          <a:p>
            <a:pPr algn="ctr">
              <a:lnSpc>
                <a:spcPct val="115000"/>
              </a:lnSpc>
            </a:pPr>
            <a:r>
              <a:rPr sz="1300" b="1" i="0">
                <a:solidFill>
                  <a:srgbClr val="7C9CFF"/>
                </a:solidFill>
                <a:latin typeface="Avenir Next"/>
              </a:rPr>
              <a:t>STAGE 2</a:t>
            </a:r>
          </a:p>
        </p:txBody>
      </p:sp>
      <p:sp>
        <p:nvSpPr>
          <p:cNvPr id="13" name="TextBox 12"/>
          <p:cNvSpPr txBox="1"/>
          <p:nvPr/>
        </p:nvSpPr>
        <p:spPr>
          <a:xfrm>
            <a:off x="4526280" y="3611880"/>
            <a:ext cx="3108960" cy="1097280"/>
          </a:xfrm>
          <a:prstGeom prst="rect">
            <a:avLst/>
          </a:prstGeom>
          <a:noFill/>
        </p:spPr>
        <p:txBody>
          <a:bodyPr wrap="square" anchor="t">
            <a:spAutoFit/>
          </a:bodyPr>
          <a:lstStyle/>
          <a:p>
            <a:pPr algn="ctr">
              <a:lnSpc>
                <a:spcPct val="115000"/>
              </a:lnSpc>
            </a:pPr>
            <a:r>
              <a:rPr sz="2200" b="1" i="0">
                <a:solidFill>
                  <a:srgbClr val="F2F4F8"/>
                </a:solidFill>
                <a:latin typeface="Avenir Next"/>
              </a:rPr>
              <a:t>Single-Session</a:t>
            </a:r>
          </a:p>
          <a:p>
            <a:pPr algn="ctr">
              <a:lnSpc>
                <a:spcPct val="115000"/>
              </a:lnSpc>
            </a:pPr>
            <a:r>
              <a:rPr sz="2200" b="1" i="0">
                <a:solidFill>
                  <a:srgbClr val="F2F4F8"/>
                </a:solidFill>
                <a:latin typeface="Avenir Next"/>
              </a:rPr>
              <a:t>Execution</a:t>
            </a:r>
          </a:p>
        </p:txBody>
      </p:sp>
      <p:sp>
        <p:nvSpPr>
          <p:cNvPr id="14" name="TextBox 13"/>
          <p:cNvSpPr txBox="1"/>
          <p:nvPr/>
        </p:nvSpPr>
        <p:spPr>
          <a:xfrm>
            <a:off x="7680960" y="3703320"/>
            <a:ext cx="457200" cy="548640"/>
          </a:xfrm>
          <a:prstGeom prst="rect">
            <a:avLst/>
          </a:prstGeom>
          <a:noFill/>
        </p:spPr>
        <p:txBody>
          <a:bodyPr wrap="square" anchor="t">
            <a:spAutoFit/>
          </a:bodyPr>
          <a:lstStyle/>
          <a:p>
            <a:pPr algn="ctr">
              <a:lnSpc>
                <a:spcPct val="115000"/>
              </a:lnSpc>
            </a:pPr>
            <a:r>
              <a:rPr sz="3000" b="0" i="0">
                <a:solidFill>
                  <a:srgbClr val="A6AFC2"/>
                </a:solidFill>
                <a:latin typeface="Avenir Next"/>
              </a:rPr>
              <a:t>→</a:t>
            </a:r>
          </a:p>
        </p:txBody>
      </p:sp>
      <p:sp>
        <p:nvSpPr>
          <p:cNvPr id="15" name="Rounded Rectangle 14"/>
          <p:cNvSpPr/>
          <p:nvPr/>
        </p:nvSpPr>
        <p:spPr>
          <a:xfrm>
            <a:off x="8229600" y="2834640"/>
            <a:ext cx="3108960" cy="228600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3108960"/>
            <a:ext cx="3108960" cy="365760"/>
          </a:xfrm>
          <a:prstGeom prst="rect">
            <a:avLst/>
          </a:prstGeom>
          <a:noFill/>
        </p:spPr>
        <p:txBody>
          <a:bodyPr wrap="square" anchor="t">
            <a:spAutoFit/>
          </a:bodyPr>
          <a:lstStyle/>
          <a:p>
            <a:pPr algn="ctr">
              <a:lnSpc>
                <a:spcPct val="115000"/>
              </a:lnSpc>
            </a:pPr>
            <a:r>
              <a:rPr sz="1300" b="1" i="0">
                <a:solidFill>
                  <a:srgbClr val="5EE6C0"/>
                </a:solidFill>
                <a:latin typeface="Avenir Next"/>
              </a:rPr>
              <a:t>STAGE 3</a:t>
            </a:r>
          </a:p>
        </p:txBody>
      </p:sp>
      <p:sp>
        <p:nvSpPr>
          <p:cNvPr id="17" name="TextBox 16"/>
          <p:cNvSpPr txBox="1"/>
          <p:nvPr/>
        </p:nvSpPr>
        <p:spPr>
          <a:xfrm>
            <a:off x="8229600" y="3611880"/>
            <a:ext cx="3108960" cy="1097280"/>
          </a:xfrm>
          <a:prstGeom prst="rect">
            <a:avLst/>
          </a:prstGeom>
          <a:noFill/>
        </p:spPr>
        <p:txBody>
          <a:bodyPr wrap="square" anchor="t">
            <a:spAutoFit/>
          </a:bodyPr>
          <a:lstStyle/>
          <a:p>
            <a:pPr algn="ctr">
              <a:lnSpc>
                <a:spcPct val="115000"/>
              </a:lnSpc>
            </a:pPr>
            <a:r>
              <a:rPr sz="2200" b="1" i="0">
                <a:solidFill>
                  <a:srgbClr val="F2F4F8"/>
                </a:solidFill>
                <a:latin typeface="Avenir Next"/>
              </a:rPr>
              <a:t>Agent</a:t>
            </a:r>
          </a:p>
          <a:p>
            <a:pPr algn="ctr">
              <a:lnSpc>
                <a:spcPct val="115000"/>
              </a:lnSpc>
            </a:pPr>
            <a:r>
              <a:rPr sz="2200" b="1" i="0">
                <a:solidFill>
                  <a:srgbClr val="F2F4F8"/>
                </a:solidFill>
                <a:latin typeface="Avenir Next"/>
              </a:rPr>
              <a:t>Mode</a:t>
            </a:r>
          </a:p>
        </p:txBody>
      </p:sp>
      <p:sp>
        <p:nvSpPr>
          <p:cNvPr id="18" name="TextBox 17"/>
          <p:cNvSpPr txBox="1"/>
          <p:nvPr/>
        </p:nvSpPr>
        <p:spPr>
          <a:xfrm>
            <a:off x="502920" y="5532120"/>
            <a:ext cx="10789920" cy="640080"/>
          </a:xfrm>
          <a:prstGeom prst="rect">
            <a:avLst/>
          </a:prstGeom>
          <a:noFill/>
        </p:spPr>
        <p:txBody>
          <a:bodyPr wrap="square" anchor="t">
            <a:spAutoFit/>
          </a:bodyPr>
          <a:lstStyle/>
          <a:p>
            <a:pPr algn="l">
              <a:lnSpc>
                <a:spcPct val="115000"/>
              </a:lnSpc>
            </a:pPr>
            <a:r>
              <a:rPr sz="1700" b="0" i="1">
                <a:solidFill>
                  <a:srgbClr val="5EE6C0"/>
                </a:solidFill>
                <a:latin typeface="Avenir Next"/>
              </a:rPr>
              <a:t>We're not guessing at the roadmap — we're following a proven curve.</a:t>
            </a:r>
          </a:p>
        </p:txBody>
      </p:sp>
      <p:sp>
        <p:nvSpPr>
          <p:cNvPr id="19" name="TextBox 18"/>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From Assistant to Autonomous  ·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EVOLUTION · STAGE 1</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04 / 08</a:t>
            </a:r>
          </a:p>
        </p:txBody>
      </p:sp>
      <p:sp>
        <p:nvSpPr>
          <p:cNvPr id="5" name="TextBox 4"/>
          <p:cNvSpPr txBox="1"/>
          <p:nvPr/>
        </p:nvSpPr>
        <p:spPr>
          <a:xfrm>
            <a:off x="502920" y="914400"/>
            <a:ext cx="7772400" cy="640080"/>
          </a:xfrm>
          <a:prstGeom prst="rect">
            <a:avLst/>
          </a:prstGeom>
          <a:noFill/>
        </p:spPr>
        <p:txBody>
          <a:bodyPr wrap="square" anchor="t">
            <a:spAutoFit/>
          </a:bodyPr>
          <a:lstStyle/>
          <a:p>
            <a:pPr algn="l">
              <a:lnSpc>
                <a:spcPct val="115000"/>
              </a:lnSpc>
            </a:pPr>
            <a:r>
              <a:rPr sz="3200" b="1" i="0">
                <a:solidFill>
                  <a:srgbClr val="F2F4F8"/>
                </a:solidFill>
                <a:latin typeface="Avenir Next"/>
              </a:rPr>
              <a:t>Stage 1: Assisted Completion</a:t>
            </a:r>
          </a:p>
        </p:txBody>
      </p:sp>
      <p:sp>
        <p:nvSpPr>
          <p:cNvPr id="6" name="Rounded Rectangle 5"/>
          <p:cNvSpPr/>
          <p:nvPr/>
        </p:nvSpPr>
        <p:spPr>
          <a:xfrm>
            <a:off x="9692640" y="987552"/>
            <a:ext cx="1042416" cy="292608"/>
          </a:xfrm>
          <a:prstGeom prst="roundRect">
            <a:avLst>
              <a:gd name="adj" fmla="val 50000"/>
            </a:avLst>
          </a:prstGeom>
          <a:solidFill>
            <a:srgbClr val="0B0F1A"/>
          </a:solidFill>
          <a:ln w="12700">
            <a:solidFill>
              <a:srgbClr val="6B748C"/>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6B748C"/>
                </a:solidFill>
                <a:latin typeface="Avenir Next"/>
              </a:rPr>
              <a:t>DONE</a:t>
            </a:r>
          </a:p>
        </p:txBody>
      </p:sp>
      <p:sp>
        <p:nvSpPr>
          <p:cNvPr id="7" name="Rounded Rectangle 6"/>
          <p:cNvSpPr/>
          <p:nvPr/>
        </p:nvSpPr>
        <p:spPr>
          <a:xfrm>
            <a:off x="502920" y="1783080"/>
            <a:ext cx="5440680" cy="4206240"/>
          </a:xfrm>
          <a:prstGeom prst="roundRect">
            <a:avLst>
              <a:gd name="adj" fmla="val 5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IN CODING</a:t>
            </a:r>
          </a:p>
        </p:txBody>
      </p:sp>
      <p:sp>
        <p:nvSpPr>
          <p:cNvPr id="9" name="TextBox 8"/>
          <p:cNvSpPr txBox="1"/>
          <p:nvPr/>
        </p:nvSpPr>
        <p:spPr>
          <a:xfrm>
            <a:off x="868680" y="2514600"/>
            <a:ext cx="4709160" cy="548640"/>
          </a:xfrm>
          <a:prstGeom prst="rect">
            <a:avLst/>
          </a:prstGeom>
          <a:noFill/>
        </p:spPr>
        <p:txBody>
          <a:bodyPr wrap="square" anchor="t">
            <a:spAutoFit/>
          </a:bodyPr>
          <a:lstStyle/>
          <a:p>
            <a:pPr algn="l">
              <a:lnSpc>
                <a:spcPct val="120000"/>
              </a:lnSpc>
            </a:pPr>
            <a:r>
              <a:rPr sz="1900" b="1" i="0">
                <a:solidFill>
                  <a:srgbClr val="A6AFC2"/>
                </a:solidFill>
                <a:latin typeface="Avenir Next"/>
              </a:rPr>
              <a:t>Inline autocomplete</a:t>
            </a:r>
          </a:p>
        </p:txBody>
      </p:sp>
      <p:sp>
        <p:nvSpPr>
          <p:cNvPr id="10" name="TextBox 9"/>
          <p:cNvSpPr txBox="1"/>
          <p:nvPr/>
        </p:nvSpPr>
        <p:spPr>
          <a:xfrm>
            <a:off x="868680" y="3200400"/>
            <a:ext cx="4709160" cy="2560320"/>
          </a:xfrm>
          <a:prstGeom prst="rect">
            <a:avLst/>
          </a:prstGeom>
          <a:noFill/>
        </p:spPr>
        <p:txBody>
          <a:bodyPr wrap="square">
            <a:spAutoFit/>
          </a:bodyPr>
          <a:lstStyle/>
          <a:p>
            <a:pPr>
              <a:lnSpc>
                <a:spcPct val="120000"/>
              </a:lnSpc>
              <a:spcAft>
                <a:spcPts val="1200"/>
              </a:spcAft>
            </a:pPr>
            <a:r>
              <a:rPr sz="1450">
                <a:solidFill>
                  <a:srgbClr val="A6AFC2"/>
                </a:solidFill>
                <a:latin typeface="Avenir Next"/>
              </a:rPr>
              <a:t>—  Early Copilot-style tools</a:t>
            </a:r>
          </a:p>
          <a:p>
            <a:pPr>
              <a:lnSpc>
                <a:spcPct val="120000"/>
              </a:lnSpc>
              <a:spcAft>
                <a:spcPts val="1200"/>
              </a:spcAft>
            </a:pPr>
            <a:r>
              <a:rPr sz="1450">
                <a:solidFill>
                  <a:srgbClr val="A6AFC2"/>
                </a:solidFill>
                <a:latin typeface="Avenir Next"/>
              </a:rPr>
              <a:t>—  Human drives, AI suggests fragments</a:t>
            </a:r>
          </a:p>
          <a:p>
            <a:pPr>
              <a:lnSpc>
                <a:spcPct val="120000"/>
              </a:lnSpc>
              <a:spcAft>
                <a:spcPts val="1200"/>
              </a:spcAft>
            </a:pPr>
            <a:r>
              <a:rPr sz="1450">
                <a:solidFill>
                  <a:srgbClr val="A6AFC2"/>
                </a:solidFill>
                <a:latin typeface="Avenir Next"/>
              </a:rPr>
              <a:t>—  Bounded to the next few lines</a:t>
            </a:r>
          </a:p>
        </p:txBody>
      </p:sp>
      <p:sp>
        <p:nvSpPr>
          <p:cNvPr id="11" name="Rounded Rectangle 10"/>
          <p:cNvSpPr/>
          <p:nvPr/>
        </p:nvSpPr>
        <p:spPr>
          <a:xfrm>
            <a:off x="6263640" y="1783080"/>
            <a:ext cx="5440680" cy="4206240"/>
          </a:xfrm>
          <a:prstGeom prst="roundRect">
            <a:avLst>
              <a:gd name="adj" fmla="val 5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783080"/>
            <a:ext cx="73152" cy="4206240"/>
          </a:xfrm>
          <a:prstGeom prst="rect">
            <a:avLst/>
          </a:prstGeom>
          <a:solidFill>
            <a:srgbClr val="6B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IN LAUNCHMINDS</a:t>
            </a:r>
          </a:p>
        </p:txBody>
      </p:sp>
      <p:sp>
        <p:nvSpPr>
          <p:cNvPr id="14" name="TextBox 13"/>
          <p:cNvSpPr txBox="1"/>
          <p:nvPr/>
        </p:nvSpPr>
        <p:spPr>
          <a:xfrm>
            <a:off x="6629400" y="2514600"/>
            <a:ext cx="4709160" cy="548640"/>
          </a:xfrm>
          <a:prstGeom prst="rect">
            <a:avLst/>
          </a:prstGeom>
          <a:noFill/>
        </p:spPr>
        <p:txBody>
          <a:bodyPr wrap="square" anchor="t">
            <a:spAutoFit/>
          </a:bodyPr>
          <a:lstStyle/>
          <a:p>
            <a:pPr algn="l">
              <a:lnSpc>
                <a:spcPct val="120000"/>
              </a:lnSpc>
            </a:pPr>
            <a:r>
              <a:rPr sz="1900" b="1" i="0">
                <a:solidFill>
                  <a:srgbClr val="F2F4F8"/>
                </a:solidFill>
                <a:latin typeface="Avenir Next"/>
              </a:rPr>
              <a:t>AI-assisted campaign copy</a:t>
            </a:r>
          </a:p>
        </p:txBody>
      </p:sp>
      <p:sp>
        <p:nvSpPr>
          <p:cNvPr id="15" name="TextBox 14"/>
          <p:cNvSpPr txBox="1"/>
          <p:nvPr/>
        </p:nvSpPr>
        <p:spPr>
          <a:xfrm>
            <a:off x="6629400" y="3200400"/>
            <a:ext cx="4709160" cy="2560320"/>
          </a:xfrm>
          <a:prstGeom prst="rect">
            <a:avLst/>
          </a:prstGeom>
          <a:noFill/>
        </p:spPr>
        <p:txBody>
          <a:bodyPr wrap="square">
            <a:spAutoFit/>
          </a:bodyPr>
          <a:lstStyle/>
          <a:p>
            <a:pPr>
              <a:lnSpc>
                <a:spcPct val="120000"/>
              </a:lnSpc>
              <a:spcAft>
                <a:spcPts val="1200"/>
              </a:spcAft>
            </a:pPr>
            <a:r>
              <a:rPr sz="1450">
                <a:solidFill>
                  <a:srgbClr val="F2F4F8"/>
                </a:solidFill>
                <a:latin typeface="Avenir Next"/>
              </a:rPr>
              <a:t>—  AI helped write campaign copy &amp; task descriptions</a:t>
            </a:r>
          </a:p>
          <a:p>
            <a:pPr>
              <a:lnSpc>
                <a:spcPct val="120000"/>
              </a:lnSpc>
              <a:spcAft>
                <a:spcPts val="1200"/>
              </a:spcAft>
            </a:pPr>
            <a:r>
              <a:rPr sz="1450">
                <a:solidFill>
                  <a:srgbClr val="F2F4F8"/>
                </a:solidFill>
                <a:latin typeface="Avenir Next"/>
              </a:rPr>
              <a:t>—  Human still designed and assembled the whole campaign</a:t>
            </a:r>
          </a:p>
          <a:p>
            <a:pPr>
              <a:lnSpc>
                <a:spcPct val="120000"/>
              </a:lnSpc>
              <a:spcAft>
                <a:spcPts val="1200"/>
              </a:spcAft>
            </a:pPr>
            <a:r>
              <a:rPr sz="1450">
                <a:solidFill>
                  <a:srgbClr val="F2F4F8"/>
                </a:solidFill>
                <a:latin typeface="Avenir Next"/>
              </a:rPr>
              <a:t>—  Useful, but narrow</a:t>
            </a:r>
          </a:p>
        </p:txBody>
      </p:sp>
      <p:sp>
        <p:nvSpPr>
          <p:cNvPr id="16" name="TextBox 15"/>
          <p:cNvSpPr txBox="1"/>
          <p:nvPr/>
        </p:nvSpPr>
        <p:spPr>
          <a:xfrm>
            <a:off x="502920" y="6172200"/>
            <a:ext cx="10789920" cy="365760"/>
          </a:xfrm>
          <a:prstGeom prst="rect">
            <a:avLst/>
          </a:prstGeom>
          <a:noFill/>
        </p:spPr>
        <p:txBody>
          <a:bodyPr wrap="square" anchor="t">
            <a:spAutoFit/>
          </a:bodyPr>
          <a:lstStyle/>
          <a:p>
            <a:pPr algn="l">
              <a:lnSpc>
                <a:spcPct val="115000"/>
              </a:lnSpc>
            </a:pPr>
            <a:r>
              <a:rPr sz="1350" b="0" i="1">
                <a:solidFill>
                  <a:srgbClr val="6B748C"/>
                </a:solidFill>
                <a:latin typeface="Avenir Next"/>
              </a:rPr>
              <a:t>This was our starting point — already behind us.</a:t>
            </a:r>
          </a:p>
        </p:txBody>
      </p:sp>
      <p:sp>
        <p:nvSpPr>
          <p:cNvPr id="17" name="TextBox 1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From Assistant to Autonomous  ·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EVOLUTION · STAGE 2</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05 / 08</a:t>
            </a:r>
          </a:p>
        </p:txBody>
      </p:sp>
      <p:sp>
        <p:nvSpPr>
          <p:cNvPr id="5" name="TextBox 4"/>
          <p:cNvSpPr txBox="1"/>
          <p:nvPr/>
        </p:nvSpPr>
        <p:spPr>
          <a:xfrm>
            <a:off x="502920" y="914400"/>
            <a:ext cx="7772400" cy="640080"/>
          </a:xfrm>
          <a:prstGeom prst="rect">
            <a:avLst/>
          </a:prstGeom>
          <a:noFill/>
        </p:spPr>
        <p:txBody>
          <a:bodyPr wrap="square" anchor="t">
            <a:spAutoFit/>
          </a:bodyPr>
          <a:lstStyle/>
          <a:p>
            <a:pPr algn="l">
              <a:lnSpc>
                <a:spcPct val="115000"/>
              </a:lnSpc>
            </a:pPr>
            <a:r>
              <a:rPr sz="3200" b="1" i="0">
                <a:solidFill>
                  <a:srgbClr val="F2F4F8"/>
                </a:solidFill>
                <a:latin typeface="Avenir Next"/>
              </a:rPr>
              <a:t>Stage 2: Single-Session Execution</a:t>
            </a:r>
          </a:p>
        </p:txBody>
      </p:sp>
      <p:sp>
        <p:nvSpPr>
          <p:cNvPr id="6" name="Rounded Rectangle 5"/>
          <p:cNvSpPr/>
          <p:nvPr/>
        </p:nvSpPr>
        <p:spPr>
          <a:xfrm>
            <a:off x="9692640" y="987552"/>
            <a:ext cx="1188720" cy="292608"/>
          </a:xfrm>
          <a:prstGeom prst="roundRect">
            <a:avLst>
              <a:gd name="adj" fmla="val 50000"/>
            </a:avLst>
          </a:prstGeom>
          <a:solidFill>
            <a:srgbClr val="0B0F1A"/>
          </a:solidFill>
          <a:ln w="12700">
            <a:solidFill>
              <a:srgbClr val="7C9CFF"/>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7C9CFF"/>
                </a:solidFill>
                <a:latin typeface="Avenir Next"/>
              </a:rPr>
              <a:t>TODAY</a:t>
            </a:r>
          </a:p>
        </p:txBody>
      </p:sp>
      <p:sp>
        <p:nvSpPr>
          <p:cNvPr id="7" name="Rounded Rectangle 6"/>
          <p:cNvSpPr/>
          <p:nvPr/>
        </p:nvSpPr>
        <p:spPr>
          <a:xfrm>
            <a:off x="502920" y="1783080"/>
            <a:ext cx="5440680" cy="4206240"/>
          </a:xfrm>
          <a:prstGeom prst="roundRect">
            <a:avLst>
              <a:gd name="adj" fmla="val 5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IN CODING</a:t>
            </a:r>
          </a:p>
        </p:txBody>
      </p:sp>
      <p:sp>
        <p:nvSpPr>
          <p:cNvPr id="9" name="TextBox 8"/>
          <p:cNvSpPr txBox="1"/>
          <p:nvPr/>
        </p:nvSpPr>
        <p:spPr>
          <a:xfrm>
            <a:off x="868680" y="2514600"/>
            <a:ext cx="4709160" cy="548640"/>
          </a:xfrm>
          <a:prstGeom prst="rect">
            <a:avLst/>
          </a:prstGeom>
          <a:noFill/>
        </p:spPr>
        <p:txBody>
          <a:bodyPr wrap="square" anchor="t">
            <a:spAutoFit/>
          </a:bodyPr>
          <a:lstStyle/>
          <a:p>
            <a:pPr algn="l">
              <a:lnSpc>
                <a:spcPct val="120000"/>
              </a:lnSpc>
            </a:pPr>
            <a:r>
              <a:rPr sz="1900" b="1" i="0">
                <a:solidFill>
                  <a:srgbClr val="A6AFC2"/>
                </a:solidFill>
                <a:latin typeface="Avenir Next"/>
              </a:rPr>
              <a:t>One session, full execution</a:t>
            </a:r>
          </a:p>
        </p:txBody>
      </p:sp>
      <p:sp>
        <p:nvSpPr>
          <p:cNvPr id="10" name="TextBox 9"/>
          <p:cNvSpPr txBox="1"/>
          <p:nvPr/>
        </p:nvSpPr>
        <p:spPr>
          <a:xfrm>
            <a:off x="868680" y="3200400"/>
            <a:ext cx="4709160" cy="2560320"/>
          </a:xfrm>
          <a:prstGeom prst="rect">
            <a:avLst/>
          </a:prstGeom>
          <a:noFill/>
        </p:spPr>
        <p:txBody>
          <a:bodyPr wrap="square">
            <a:spAutoFit/>
          </a:bodyPr>
          <a:lstStyle/>
          <a:p>
            <a:pPr>
              <a:lnSpc>
                <a:spcPct val="120000"/>
              </a:lnSpc>
              <a:spcAft>
                <a:spcPts val="1200"/>
              </a:spcAft>
            </a:pPr>
            <a:r>
              <a:rPr sz="1450">
                <a:solidFill>
                  <a:srgbClr val="A6AFC2"/>
                </a:solidFill>
                <a:latin typeface="Avenir Next"/>
              </a:rPr>
              <a:t>—  A full brief goes in, one LLM session executes it end-to-end</a:t>
            </a:r>
          </a:p>
          <a:p>
            <a:pPr>
              <a:lnSpc>
                <a:spcPct val="120000"/>
              </a:lnSpc>
              <a:spcAft>
                <a:spcPts val="1200"/>
              </a:spcAft>
            </a:pPr>
            <a:r>
              <a:rPr sz="1450">
                <a:solidFill>
                  <a:srgbClr val="A6AFC2"/>
                </a:solidFill>
                <a:latin typeface="Avenir Next"/>
              </a:rPr>
              <a:t>—  Bounded to one continuous session, one thread</a:t>
            </a:r>
          </a:p>
        </p:txBody>
      </p:sp>
      <p:sp>
        <p:nvSpPr>
          <p:cNvPr id="11" name="Rounded Rectangle 10"/>
          <p:cNvSpPr/>
          <p:nvPr/>
        </p:nvSpPr>
        <p:spPr>
          <a:xfrm>
            <a:off x="6263640" y="1783080"/>
            <a:ext cx="5440680" cy="4206240"/>
          </a:xfrm>
          <a:prstGeom prst="roundRect">
            <a:avLst>
              <a:gd name="adj" fmla="val 5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783080"/>
            <a:ext cx="73152" cy="4206240"/>
          </a:xfrm>
          <a:prstGeom prst="rect">
            <a:avLst/>
          </a:prstGeom>
          <a:solidFill>
            <a:srgbClr val="7C9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103120"/>
            <a:ext cx="4709160" cy="457200"/>
          </a:xfrm>
          <a:prstGeom prst="rect">
            <a:avLst/>
          </a:prstGeom>
          <a:noFill/>
        </p:spPr>
        <p:txBody>
          <a:bodyPr wrap="square" anchor="t">
            <a:spAutoFit/>
          </a:bodyPr>
          <a:lstStyle/>
          <a:p>
            <a:pPr algn="l">
              <a:lnSpc>
                <a:spcPct val="115000"/>
              </a:lnSpc>
            </a:pPr>
            <a:r>
              <a:rPr sz="1400" b="1" i="0">
                <a:solidFill>
                  <a:srgbClr val="7C9CFF"/>
                </a:solidFill>
                <a:latin typeface="Avenir Next"/>
              </a:rPr>
              <a:t>IN LAUNCHMINDS</a:t>
            </a:r>
          </a:p>
        </p:txBody>
      </p:sp>
      <p:sp>
        <p:nvSpPr>
          <p:cNvPr id="14" name="TextBox 13"/>
          <p:cNvSpPr txBox="1"/>
          <p:nvPr/>
        </p:nvSpPr>
        <p:spPr>
          <a:xfrm>
            <a:off x="6629400" y="2514600"/>
            <a:ext cx="4709160" cy="548640"/>
          </a:xfrm>
          <a:prstGeom prst="rect">
            <a:avLst/>
          </a:prstGeom>
          <a:noFill/>
        </p:spPr>
        <p:txBody>
          <a:bodyPr wrap="square" anchor="t">
            <a:spAutoFit/>
          </a:bodyPr>
          <a:lstStyle/>
          <a:p>
            <a:pPr algn="l">
              <a:lnSpc>
                <a:spcPct val="120000"/>
              </a:lnSpc>
            </a:pPr>
            <a:r>
              <a:rPr sz="1900" b="1" i="0">
                <a:solidFill>
                  <a:srgbClr val="F2F4F8"/>
                </a:solidFill>
                <a:latin typeface="Avenir Next"/>
              </a:rPr>
              <a:t>Registration → Plan → Deploy, in one pass</a:t>
            </a:r>
          </a:p>
        </p:txBody>
      </p:sp>
      <p:sp>
        <p:nvSpPr>
          <p:cNvPr id="15" name="TextBox 14"/>
          <p:cNvSpPr txBox="1"/>
          <p:nvPr/>
        </p:nvSpPr>
        <p:spPr>
          <a:xfrm>
            <a:off x="6629400" y="3200400"/>
            <a:ext cx="4709160" cy="2560320"/>
          </a:xfrm>
          <a:prstGeom prst="rect">
            <a:avLst/>
          </a:prstGeom>
          <a:noFill/>
        </p:spPr>
        <p:txBody>
          <a:bodyPr wrap="square">
            <a:spAutoFit/>
          </a:bodyPr>
          <a:lstStyle/>
          <a:p>
            <a:pPr>
              <a:lnSpc>
                <a:spcPct val="120000"/>
              </a:lnSpc>
              <a:spcAft>
                <a:spcPts val="1200"/>
              </a:spcAft>
            </a:pPr>
            <a:r>
              <a:rPr sz="1450">
                <a:solidFill>
                  <a:srgbClr val="F2F4F8"/>
                </a:solidFill>
                <a:latin typeface="Avenir Next"/>
              </a:rPr>
              <a:t>—  One session handles registration, strategy planning, AND deployment</a:t>
            </a:r>
          </a:p>
          <a:p>
            <a:pPr>
              <a:lnSpc>
                <a:spcPct val="120000"/>
              </a:lnSpc>
              <a:spcAft>
                <a:spcPts val="1200"/>
              </a:spcAft>
            </a:pPr>
            <a:r>
              <a:rPr sz="1450">
                <a:solidFill>
                  <a:srgbClr val="F2F4F8"/>
                </a:solidFill>
                <a:latin typeface="Avenir Next"/>
              </a:rPr>
              <a:t>—  Powered by our internal skill system — encodes the full campaign schema</a:t>
            </a:r>
          </a:p>
          <a:p>
            <a:pPr>
              <a:lnSpc>
                <a:spcPct val="120000"/>
              </a:lnSpc>
              <a:spcAft>
                <a:spcPts val="1200"/>
              </a:spcAft>
            </a:pPr>
            <a:r>
              <a:rPr sz="1450">
                <a:solidFill>
                  <a:srgbClr val="F2F4F8"/>
                </a:solidFill>
                <a:latin typeface="Avenir Next"/>
              </a:rPr>
              <a:t>—  Brief in, live campaign out — shipped and working today</a:t>
            </a:r>
          </a:p>
        </p:txBody>
      </p:sp>
      <p:sp>
        <p:nvSpPr>
          <p:cNvPr id="16" name="TextBox 15"/>
          <p:cNvSpPr txBox="1"/>
          <p:nvPr/>
        </p:nvSpPr>
        <p:spPr>
          <a:xfrm>
            <a:off x="502920" y="6172200"/>
            <a:ext cx="10789920" cy="365760"/>
          </a:xfrm>
          <a:prstGeom prst="rect">
            <a:avLst/>
          </a:prstGeom>
          <a:noFill/>
        </p:spPr>
        <p:txBody>
          <a:bodyPr wrap="square" anchor="t">
            <a:spAutoFit/>
          </a:bodyPr>
          <a:lstStyle/>
          <a:p>
            <a:pPr algn="l">
              <a:lnSpc>
                <a:spcPct val="115000"/>
              </a:lnSpc>
            </a:pPr>
            <a:r>
              <a:rPr sz="1350" b="0" i="1">
                <a:solidFill>
                  <a:srgbClr val="6B748C"/>
                </a:solidFill>
                <a:latin typeface="Avenir Next"/>
              </a:rPr>
              <a:t>This is real. This is where LaunchMinds stands right now.</a:t>
            </a:r>
          </a:p>
        </p:txBody>
      </p:sp>
      <p:sp>
        <p:nvSpPr>
          <p:cNvPr id="17" name="TextBox 1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From Assistant to Autonomous  ·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EVOLUTION · STAGE 3</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06 / 08</a:t>
            </a:r>
          </a:p>
        </p:txBody>
      </p:sp>
      <p:sp>
        <p:nvSpPr>
          <p:cNvPr id="5" name="TextBox 4"/>
          <p:cNvSpPr txBox="1"/>
          <p:nvPr/>
        </p:nvSpPr>
        <p:spPr>
          <a:xfrm>
            <a:off x="502920" y="914400"/>
            <a:ext cx="7772400" cy="640080"/>
          </a:xfrm>
          <a:prstGeom prst="rect">
            <a:avLst/>
          </a:prstGeom>
          <a:noFill/>
        </p:spPr>
        <p:txBody>
          <a:bodyPr wrap="square" anchor="t">
            <a:spAutoFit/>
          </a:bodyPr>
          <a:lstStyle/>
          <a:p>
            <a:pPr algn="l">
              <a:lnSpc>
                <a:spcPct val="115000"/>
              </a:lnSpc>
            </a:pPr>
            <a:r>
              <a:rPr sz="3200" b="1" i="0">
                <a:solidFill>
                  <a:srgbClr val="F2F4F8"/>
                </a:solidFill>
                <a:latin typeface="Avenir Next"/>
              </a:rPr>
              <a:t>Stage 3: Agent Mode</a:t>
            </a:r>
          </a:p>
        </p:txBody>
      </p:sp>
      <p:sp>
        <p:nvSpPr>
          <p:cNvPr id="6" name="Rounded Rectangle 5"/>
          <p:cNvSpPr/>
          <p:nvPr/>
        </p:nvSpPr>
        <p:spPr>
          <a:xfrm>
            <a:off x="9692640" y="987552"/>
            <a:ext cx="2505456" cy="292608"/>
          </a:xfrm>
          <a:prstGeom prst="roundRect">
            <a:avLst>
              <a:gd name="adj" fmla="val 50000"/>
            </a:avLst>
          </a:prstGeom>
          <a:solidFill>
            <a:srgbClr val="0B0F1A"/>
          </a:solidFill>
          <a:ln w="12700">
            <a:solidFill>
              <a:srgbClr val="5EE6C0"/>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5EE6C0"/>
                </a:solidFill>
                <a:latin typeface="Avenir Next"/>
              </a:rPr>
              <a:t>NEXT MILESTONE</a:t>
            </a:r>
          </a:p>
        </p:txBody>
      </p:sp>
      <p:sp>
        <p:nvSpPr>
          <p:cNvPr id="7" name="Rounded Rectangle 6"/>
          <p:cNvSpPr/>
          <p:nvPr/>
        </p:nvSpPr>
        <p:spPr>
          <a:xfrm>
            <a:off x="502920" y="1783080"/>
            <a:ext cx="5440680" cy="4206240"/>
          </a:xfrm>
          <a:prstGeom prst="roundRect">
            <a:avLst>
              <a:gd name="adj" fmla="val 5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IN CODING</a:t>
            </a:r>
          </a:p>
        </p:txBody>
      </p:sp>
      <p:sp>
        <p:nvSpPr>
          <p:cNvPr id="9" name="TextBox 8"/>
          <p:cNvSpPr txBox="1"/>
          <p:nvPr/>
        </p:nvSpPr>
        <p:spPr>
          <a:xfrm>
            <a:off x="868680" y="2514600"/>
            <a:ext cx="4709160" cy="548640"/>
          </a:xfrm>
          <a:prstGeom prst="rect">
            <a:avLst/>
          </a:prstGeom>
          <a:noFill/>
        </p:spPr>
        <p:txBody>
          <a:bodyPr wrap="square" anchor="t">
            <a:spAutoFit/>
          </a:bodyPr>
          <a:lstStyle/>
          <a:p>
            <a:pPr algn="l">
              <a:lnSpc>
                <a:spcPct val="120000"/>
              </a:lnSpc>
            </a:pPr>
            <a:r>
              <a:rPr sz="1900" b="1" i="0">
                <a:solidFill>
                  <a:srgbClr val="A6AFC2"/>
                </a:solidFill>
                <a:latin typeface="Avenir Next"/>
              </a:rPr>
              <a:t>Persistent, multi-agent systems</a:t>
            </a:r>
          </a:p>
        </p:txBody>
      </p:sp>
      <p:sp>
        <p:nvSpPr>
          <p:cNvPr id="10" name="TextBox 9"/>
          <p:cNvSpPr txBox="1"/>
          <p:nvPr/>
        </p:nvSpPr>
        <p:spPr>
          <a:xfrm>
            <a:off x="868680" y="3200400"/>
            <a:ext cx="4709160" cy="2560320"/>
          </a:xfrm>
          <a:prstGeom prst="rect">
            <a:avLst/>
          </a:prstGeom>
          <a:noFill/>
        </p:spPr>
        <p:txBody>
          <a:bodyPr wrap="square">
            <a:spAutoFit/>
          </a:bodyPr>
          <a:lstStyle/>
          <a:p>
            <a:pPr>
              <a:lnSpc>
                <a:spcPct val="120000"/>
              </a:lnSpc>
              <a:spcAft>
                <a:spcPts val="1200"/>
              </a:spcAft>
            </a:pPr>
            <a:r>
              <a:rPr sz="1450">
                <a:solidFill>
                  <a:srgbClr val="A6AFC2"/>
                </a:solidFill>
                <a:latin typeface="Avenir Next"/>
              </a:rPr>
              <a:t>—  Not one bounded session — a persistent system</a:t>
            </a:r>
          </a:p>
          <a:p>
            <a:pPr>
              <a:lnSpc>
                <a:spcPct val="120000"/>
              </a:lnSpc>
              <a:spcAft>
                <a:spcPts val="1200"/>
              </a:spcAft>
            </a:pPr>
            <a:r>
              <a:rPr sz="1450">
                <a:solidFill>
                  <a:srgbClr val="A6AFC2"/>
                </a:solidFill>
                <a:latin typeface="Avenir Next"/>
              </a:rPr>
              <a:t>—  Multiple agents, each with a role</a:t>
            </a:r>
          </a:p>
          <a:p>
            <a:pPr>
              <a:lnSpc>
                <a:spcPct val="120000"/>
              </a:lnSpc>
              <a:spcAft>
                <a:spcPts val="1200"/>
              </a:spcAft>
            </a:pPr>
            <a:r>
              <a:rPr sz="1450">
                <a:solidFill>
                  <a:srgbClr val="A6AFC2"/>
                </a:solidFill>
                <a:latin typeface="Avenir Next"/>
              </a:rPr>
              <a:t>—  Coordinate with each other over time</a:t>
            </a:r>
          </a:p>
        </p:txBody>
      </p:sp>
      <p:sp>
        <p:nvSpPr>
          <p:cNvPr id="11" name="Rounded Rectangle 10"/>
          <p:cNvSpPr/>
          <p:nvPr/>
        </p:nvSpPr>
        <p:spPr>
          <a:xfrm>
            <a:off x="6263640" y="1783080"/>
            <a:ext cx="5440680" cy="4206240"/>
          </a:xfrm>
          <a:prstGeom prst="roundRect">
            <a:avLst>
              <a:gd name="adj" fmla="val 5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783080"/>
            <a:ext cx="73152" cy="4206240"/>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103120"/>
            <a:ext cx="4709160" cy="457200"/>
          </a:xfrm>
          <a:prstGeom prst="rect">
            <a:avLst/>
          </a:prstGeom>
          <a:noFill/>
        </p:spPr>
        <p:txBody>
          <a:bodyPr wrap="square" anchor="t">
            <a:spAutoFit/>
          </a:bodyPr>
          <a:lstStyle/>
          <a:p>
            <a:pPr algn="l">
              <a:lnSpc>
                <a:spcPct val="115000"/>
              </a:lnSpc>
            </a:pPr>
            <a:r>
              <a:rPr sz="1400" b="1" i="0">
                <a:solidFill>
                  <a:srgbClr val="5EE6C0"/>
                </a:solidFill>
                <a:latin typeface="Avenir Next"/>
              </a:rPr>
              <a:t>IN LAUNCHMINDS</a:t>
            </a:r>
          </a:p>
        </p:txBody>
      </p:sp>
      <p:sp>
        <p:nvSpPr>
          <p:cNvPr id="14" name="TextBox 13"/>
          <p:cNvSpPr txBox="1"/>
          <p:nvPr/>
        </p:nvSpPr>
        <p:spPr>
          <a:xfrm>
            <a:off x="6629400" y="2514600"/>
            <a:ext cx="4709160" cy="548640"/>
          </a:xfrm>
          <a:prstGeom prst="rect">
            <a:avLst/>
          </a:prstGeom>
          <a:noFill/>
        </p:spPr>
        <p:txBody>
          <a:bodyPr wrap="square" anchor="t">
            <a:spAutoFit/>
          </a:bodyPr>
          <a:lstStyle/>
          <a:p>
            <a:pPr algn="l">
              <a:lnSpc>
                <a:spcPct val="120000"/>
              </a:lnSpc>
            </a:pPr>
            <a:r>
              <a:rPr sz="1900" b="1" i="0">
                <a:solidFill>
                  <a:srgbClr val="F2F4F8"/>
                </a:solidFill>
                <a:latin typeface="Avenir Next"/>
              </a:rPr>
              <a:t>A workspace per project, seeded by Harness</a:t>
            </a:r>
          </a:p>
        </p:txBody>
      </p:sp>
      <p:sp>
        <p:nvSpPr>
          <p:cNvPr id="15" name="TextBox 14"/>
          <p:cNvSpPr txBox="1"/>
          <p:nvPr/>
        </p:nvSpPr>
        <p:spPr>
          <a:xfrm>
            <a:off x="6629400" y="3200400"/>
            <a:ext cx="4709160" cy="2560320"/>
          </a:xfrm>
          <a:prstGeom prst="rect">
            <a:avLst/>
          </a:prstGeom>
          <a:noFill/>
        </p:spPr>
        <p:txBody>
          <a:bodyPr wrap="square">
            <a:spAutoFit/>
          </a:bodyPr>
          <a:lstStyle/>
          <a:p>
            <a:pPr>
              <a:lnSpc>
                <a:spcPct val="120000"/>
              </a:lnSpc>
              <a:spcAft>
                <a:spcPts val="1200"/>
              </a:spcAft>
            </a:pPr>
            <a:r>
              <a:rPr sz="1450">
                <a:solidFill>
                  <a:srgbClr val="F2F4F8"/>
                </a:solidFill>
                <a:latin typeface="Avenir Next"/>
              </a:rPr>
              <a:t>—  Persistent workspace for every project / brand</a:t>
            </a:r>
          </a:p>
          <a:p>
            <a:pPr>
              <a:lnSpc>
                <a:spcPct val="120000"/>
              </a:lnSpc>
              <a:spcAft>
                <a:spcPts val="1200"/>
              </a:spcAft>
            </a:pPr>
            <a:r>
              <a:rPr sz="1450">
                <a:solidFill>
                  <a:srgbClr val="F2F4F8"/>
                </a:solidFill>
                <a:latin typeface="Avenir Next"/>
              </a:rPr>
              <a:t>—  Multiple “Minds” divide the labor: plan, execute, analyze, adjust</a:t>
            </a:r>
          </a:p>
          <a:p>
            <a:pPr>
              <a:lnSpc>
                <a:spcPct val="120000"/>
              </a:lnSpc>
              <a:spcAft>
                <a:spcPts val="1200"/>
              </a:spcAft>
            </a:pPr>
            <a:r>
              <a:rPr sz="1450">
                <a:solidFill>
                  <a:srgbClr val="F2F4F8"/>
                </a:solidFill>
                <a:latin typeface="Avenir Next"/>
              </a:rPr>
              <a:t>—  A continuous, self-improving loop — not one-shot</a:t>
            </a:r>
          </a:p>
        </p:txBody>
      </p:sp>
      <p:sp>
        <p:nvSpPr>
          <p:cNvPr id="16" name="TextBox 15"/>
          <p:cNvSpPr txBox="1"/>
          <p:nvPr/>
        </p:nvSpPr>
        <p:spPr>
          <a:xfrm>
            <a:off x="502920" y="6172200"/>
            <a:ext cx="10789920" cy="365760"/>
          </a:xfrm>
          <a:prstGeom prst="rect">
            <a:avLst/>
          </a:prstGeom>
          <a:noFill/>
        </p:spPr>
        <p:txBody>
          <a:bodyPr wrap="square" anchor="t">
            <a:spAutoFit/>
          </a:bodyPr>
          <a:lstStyle/>
          <a:p>
            <a:pPr algn="l">
              <a:lnSpc>
                <a:spcPct val="115000"/>
              </a:lnSpc>
            </a:pPr>
            <a:r>
              <a:rPr sz="1350" b="0" i="1">
                <a:solidFill>
                  <a:srgbClr val="6B748C"/>
                </a:solidFill>
                <a:latin typeface="Avenir Next"/>
              </a:rPr>
              <a:t>The milestone we're now chasing.</a:t>
            </a:r>
          </a:p>
        </p:txBody>
      </p:sp>
      <p:sp>
        <p:nvSpPr>
          <p:cNvPr id="17" name="TextBox 1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From Assistant to Autonomous  ·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PARTNERSHIP</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07 / 08</a:t>
            </a:r>
          </a:p>
        </p:txBody>
      </p:sp>
      <p:sp>
        <p:nvSpPr>
          <p:cNvPr id="5" name="TextBox 4"/>
          <p:cNvSpPr txBox="1"/>
          <p:nvPr/>
        </p:nvSpPr>
        <p:spPr>
          <a:xfrm>
            <a:off x="502920" y="960120"/>
            <a:ext cx="10515600" cy="640080"/>
          </a:xfrm>
          <a:prstGeom prst="rect">
            <a:avLst/>
          </a:prstGeom>
          <a:noFill/>
        </p:spPr>
        <p:txBody>
          <a:bodyPr wrap="square" anchor="t">
            <a:spAutoFit/>
          </a:bodyPr>
          <a:lstStyle/>
          <a:p>
            <a:pPr algn="l">
              <a:lnSpc>
                <a:spcPct val="115000"/>
              </a:lnSpc>
            </a:pPr>
            <a:r>
              <a:rPr sz="3600" b="1" i="0">
                <a:solidFill>
                  <a:srgbClr val="F2F4F8"/>
                </a:solidFill>
                <a:latin typeface="Avenir Next"/>
              </a:rPr>
              <a:t>Raising the bar on analysis</a:t>
            </a:r>
          </a:p>
        </p:txBody>
      </p:sp>
      <p:sp>
        <p:nvSpPr>
          <p:cNvPr id="6" name="Rounded Rectangle 5"/>
          <p:cNvSpPr/>
          <p:nvPr/>
        </p:nvSpPr>
        <p:spPr>
          <a:xfrm>
            <a:off x="502920" y="1783080"/>
            <a:ext cx="3822191" cy="292608"/>
          </a:xfrm>
          <a:prstGeom prst="roundRect">
            <a:avLst>
              <a:gd name="adj" fmla="val 50000"/>
            </a:avLst>
          </a:prstGeom>
          <a:solidFill>
            <a:srgbClr val="0B0F1A"/>
          </a:solidFill>
          <a:ln w="12700">
            <a:solidFill>
              <a:srgbClr val="FFB46C"/>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FFB46C"/>
                </a:solidFill>
                <a:latin typeface="Avenir Next"/>
              </a:rPr>
              <a:t>EXPLORING · EARLY STAGE</a:t>
            </a:r>
          </a:p>
        </p:txBody>
      </p:sp>
      <p:sp>
        <p:nvSpPr>
          <p:cNvPr id="7" name="TextBox 6"/>
          <p:cNvSpPr txBox="1"/>
          <p:nvPr/>
        </p:nvSpPr>
        <p:spPr>
          <a:xfrm>
            <a:off x="502920" y="2331720"/>
            <a:ext cx="10515600" cy="2377440"/>
          </a:xfrm>
          <a:prstGeom prst="rect">
            <a:avLst/>
          </a:prstGeom>
          <a:noFill/>
        </p:spPr>
        <p:txBody>
          <a:bodyPr wrap="square">
            <a:spAutoFit/>
          </a:bodyPr>
          <a:lstStyle/>
          <a:p>
            <a:pPr>
              <a:lnSpc>
                <a:spcPct val="120000"/>
              </a:lnSpc>
              <a:spcAft>
                <a:spcPts val="1800"/>
              </a:spcAft>
            </a:pPr>
            <a:r>
              <a:rPr sz="1900">
                <a:solidFill>
                  <a:srgbClr val="F2F4F8"/>
                </a:solidFill>
                <a:latin typeface="Avenir Next"/>
              </a:rPr>
              <a:t>—  The “analyze” Mind is only as good as its rigor</a:t>
            </a:r>
          </a:p>
          <a:p>
            <a:pPr>
              <a:lnSpc>
                <a:spcPct val="120000"/>
              </a:lnSpc>
              <a:spcAft>
                <a:spcPts val="1800"/>
              </a:spcAft>
            </a:pPr>
            <a:r>
              <a:rPr sz="1900">
                <a:solidFill>
                  <a:srgbClr val="F2F4F8"/>
                </a:solidFill>
                <a:latin typeface="Avenir Next"/>
              </a:rPr>
              <a:t>—  We're exploring a collaboration with Sapien</a:t>
            </a:r>
          </a:p>
          <a:p>
            <a:pPr>
              <a:lnSpc>
                <a:spcPct val="120000"/>
              </a:lnSpc>
              <a:spcAft>
                <a:spcPts val="1800"/>
              </a:spcAft>
            </a:pPr>
            <a:r>
              <a:rPr sz="1900">
                <a:solidFill>
                  <a:srgbClr val="F2F4F8"/>
                </a:solidFill>
                <a:latin typeface="Avenir Next"/>
              </a:rPr>
              <a:t>—  Goal: combine forces for the most professional, rigorous marketing analysis possible</a:t>
            </a:r>
          </a:p>
          <a:p>
            <a:pPr>
              <a:lnSpc>
                <a:spcPct val="120000"/>
              </a:lnSpc>
              <a:spcAft>
                <a:spcPts val="1800"/>
              </a:spcAft>
            </a:pPr>
            <a:r>
              <a:rPr sz="1900">
                <a:solidFill>
                  <a:srgbClr val="F2F4F8"/>
                </a:solidFill>
                <a:latin typeface="Avenir Next"/>
              </a:rPr>
              <a:t>—  Active conversation — not yet finalized</a:t>
            </a:r>
          </a:p>
        </p:txBody>
      </p:sp>
      <p:sp>
        <p:nvSpPr>
          <p:cNvPr id="8" name="TextBox 7"/>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From Assistant to Autonomous  ·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WHERE THIS IS GOING</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08 / 08</a:t>
            </a:r>
          </a:p>
        </p:txBody>
      </p:sp>
      <p:sp>
        <p:nvSpPr>
          <p:cNvPr id="5" name="TextBox 4"/>
          <p:cNvSpPr txBox="1"/>
          <p:nvPr/>
        </p:nvSpPr>
        <p:spPr>
          <a:xfrm>
            <a:off x="502920" y="914400"/>
            <a:ext cx="10515600" cy="640080"/>
          </a:xfrm>
          <a:prstGeom prst="rect">
            <a:avLst/>
          </a:prstGeom>
          <a:noFill/>
        </p:spPr>
        <p:txBody>
          <a:bodyPr wrap="square" anchor="t">
            <a:spAutoFit/>
          </a:bodyPr>
          <a:lstStyle/>
          <a:p>
            <a:pPr algn="l">
              <a:lnSpc>
                <a:spcPct val="115000"/>
              </a:lnSpc>
            </a:pPr>
            <a:r>
              <a:rPr sz="3600" b="1" i="0">
                <a:solidFill>
                  <a:srgbClr val="F2F4F8"/>
                </a:solidFill>
                <a:latin typeface="Avenir Next"/>
              </a:rPr>
              <a:t>Built. Shipping. Building next.</a:t>
            </a:r>
          </a:p>
        </p:txBody>
      </p:sp>
      <p:sp>
        <p:nvSpPr>
          <p:cNvPr id="6" name="Rounded Rectangle 5"/>
          <p:cNvSpPr/>
          <p:nvPr/>
        </p:nvSpPr>
        <p:spPr>
          <a:xfrm>
            <a:off x="502920" y="1920240"/>
            <a:ext cx="3337560" cy="155448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920240"/>
            <a:ext cx="3337560" cy="64008"/>
          </a:xfrm>
          <a:prstGeom prst="rect">
            <a:avLst/>
          </a:prstGeom>
          <a:solidFill>
            <a:srgbClr val="6B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148840"/>
            <a:ext cx="2788920" cy="365760"/>
          </a:xfrm>
          <a:prstGeom prst="rect">
            <a:avLst/>
          </a:prstGeom>
          <a:noFill/>
        </p:spPr>
        <p:txBody>
          <a:bodyPr wrap="square" anchor="t">
            <a:spAutoFit/>
          </a:bodyPr>
          <a:lstStyle/>
          <a:p>
            <a:pPr algn="l">
              <a:lnSpc>
                <a:spcPct val="115000"/>
              </a:lnSpc>
            </a:pPr>
            <a:r>
              <a:rPr sz="1500" b="1" i="0">
                <a:solidFill>
                  <a:srgbClr val="6B748C"/>
                </a:solidFill>
                <a:latin typeface="Avenir Next"/>
              </a:rPr>
              <a:t>Stage 1</a:t>
            </a:r>
          </a:p>
        </p:txBody>
      </p:sp>
      <p:sp>
        <p:nvSpPr>
          <p:cNvPr id="9" name="TextBox 8"/>
          <p:cNvSpPr txBox="1"/>
          <p:nvPr/>
        </p:nvSpPr>
        <p:spPr>
          <a:xfrm>
            <a:off x="777240" y="2514600"/>
            <a:ext cx="2788920" cy="548640"/>
          </a:xfrm>
          <a:prstGeom prst="rect">
            <a:avLst/>
          </a:prstGeom>
          <a:noFill/>
        </p:spPr>
        <p:txBody>
          <a:bodyPr wrap="square" anchor="t">
            <a:spAutoFit/>
          </a:bodyPr>
          <a:lstStyle/>
          <a:p>
            <a:pPr algn="l">
              <a:lnSpc>
                <a:spcPct val="115000"/>
              </a:lnSpc>
            </a:pPr>
            <a:r>
              <a:rPr sz="1700" b="1" i="0">
                <a:solidFill>
                  <a:srgbClr val="F2F4F8"/>
                </a:solidFill>
                <a:latin typeface="Avenir Next"/>
              </a:rPr>
              <a:t>Content assistance</a:t>
            </a:r>
          </a:p>
        </p:txBody>
      </p:sp>
      <p:sp>
        <p:nvSpPr>
          <p:cNvPr id="10" name="Rounded Rectangle 9"/>
          <p:cNvSpPr/>
          <p:nvPr/>
        </p:nvSpPr>
        <p:spPr>
          <a:xfrm>
            <a:off x="777240" y="3063240"/>
            <a:ext cx="1042416" cy="292608"/>
          </a:xfrm>
          <a:prstGeom prst="roundRect">
            <a:avLst>
              <a:gd name="adj" fmla="val 50000"/>
            </a:avLst>
          </a:prstGeom>
          <a:solidFill>
            <a:srgbClr val="0B0F1A"/>
          </a:solidFill>
          <a:ln w="12700">
            <a:solidFill>
              <a:srgbClr val="6B748C"/>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6B748C"/>
                </a:solidFill>
                <a:latin typeface="Avenir Next"/>
              </a:rPr>
              <a:t>DONE</a:t>
            </a:r>
          </a:p>
        </p:txBody>
      </p:sp>
      <p:sp>
        <p:nvSpPr>
          <p:cNvPr id="11" name="Rounded Rectangle 10"/>
          <p:cNvSpPr/>
          <p:nvPr/>
        </p:nvSpPr>
        <p:spPr>
          <a:xfrm>
            <a:off x="4343400" y="1920240"/>
            <a:ext cx="3337560" cy="155448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920240"/>
            <a:ext cx="3337560" cy="64008"/>
          </a:xfrm>
          <a:prstGeom prst="rect">
            <a:avLst/>
          </a:prstGeom>
          <a:solidFill>
            <a:srgbClr val="7C9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148840"/>
            <a:ext cx="2788920" cy="365760"/>
          </a:xfrm>
          <a:prstGeom prst="rect">
            <a:avLst/>
          </a:prstGeom>
          <a:noFill/>
        </p:spPr>
        <p:txBody>
          <a:bodyPr wrap="square" anchor="t">
            <a:spAutoFit/>
          </a:bodyPr>
          <a:lstStyle/>
          <a:p>
            <a:pPr algn="l">
              <a:lnSpc>
                <a:spcPct val="115000"/>
              </a:lnSpc>
            </a:pPr>
            <a:r>
              <a:rPr sz="1500" b="1" i="0">
                <a:solidFill>
                  <a:srgbClr val="7C9CFF"/>
                </a:solidFill>
                <a:latin typeface="Avenir Next"/>
              </a:rPr>
              <a:t>Stage 2</a:t>
            </a:r>
          </a:p>
        </p:txBody>
      </p:sp>
      <p:sp>
        <p:nvSpPr>
          <p:cNvPr id="14" name="TextBox 13"/>
          <p:cNvSpPr txBox="1"/>
          <p:nvPr/>
        </p:nvSpPr>
        <p:spPr>
          <a:xfrm>
            <a:off x="4617720" y="2514600"/>
            <a:ext cx="2788920" cy="548640"/>
          </a:xfrm>
          <a:prstGeom prst="rect">
            <a:avLst/>
          </a:prstGeom>
          <a:noFill/>
        </p:spPr>
        <p:txBody>
          <a:bodyPr wrap="square" anchor="t">
            <a:spAutoFit/>
          </a:bodyPr>
          <a:lstStyle/>
          <a:p>
            <a:pPr algn="l">
              <a:lnSpc>
                <a:spcPct val="115000"/>
              </a:lnSpc>
            </a:pPr>
            <a:r>
              <a:rPr sz="1700" b="1" i="0">
                <a:solidFill>
                  <a:srgbClr val="F2F4F8"/>
                </a:solidFill>
                <a:latin typeface="Avenir Next"/>
              </a:rPr>
              <a:t>Single-session execution</a:t>
            </a:r>
          </a:p>
        </p:txBody>
      </p:sp>
      <p:sp>
        <p:nvSpPr>
          <p:cNvPr id="15" name="Rounded Rectangle 14"/>
          <p:cNvSpPr/>
          <p:nvPr/>
        </p:nvSpPr>
        <p:spPr>
          <a:xfrm>
            <a:off x="4617720" y="3063240"/>
            <a:ext cx="1188720" cy="292608"/>
          </a:xfrm>
          <a:prstGeom prst="roundRect">
            <a:avLst>
              <a:gd name="adj" fmla="val 50000"/>
            </a:avLst>
          </a:prstGeom>
          <a:solidFill>
            <a:srgbClr val="0B0F1A"/>
          </a:solidFill>
          <a:ln w="12700">
            <a:solidFill>
              <a:srgbClr val="7C9CFF"/>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7C9CFF"/>
                </a:solidFill>
                <a:latin typeface="Avenir Next"/>
              </a:rPr>
              <a:t>TODAY</a:t>
            </a:r>
          </a:p>
        </p:txBody>
      </p:sp>
      <p:sp>
        <p:nvSpPr>
          <p:cNvPr id="16" name="Rounded Rectangle 15"/>
          <p:cNvSpPr/>
          <p:nvPr/>
        </p:nvSpPr>
        <p:spPr>
          <a:xfrm>
            <a:off x="8183879" y="1920240"/>
            <a:ext cx="3337560" cy="155448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79" y="1920240"/>
            <a:ext cx="3337560" cy="64008"/>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58199" y="2148840"/>
            <a:ext cx="2788920" cy="365760"/>
          </a:xfrm>
          <a:prstGeom prst="rect">
            <a:avLst/>
          </a:prstGeom>
          <a:noFill/>
        </p:spPr>
        <p:txBody>
          <a:bodyPr wrap="square" anchor="t">
            <a:spAutoFit/>
          </a:bodyPr>
          <a:lstStyle/>
          <a:p>
            <a:pPr algn="l">
              <a:lnSpc>
                <a:spcPct val="115000"/>
              </a:lnSpc>
            </a:pPr>
            <a:r>
              <a:rPr sz="1500" b="1" i="0">
                <a:solidFill>
                  <a:srgbClr val="5EE6C0"/>
                </a:solidFill>
                <a:latin typeface="Avenir Next"/>
              </a:rPr>
              <a:t>Stage 3</a:t>
            </a:r>
          </a:p>
        </p:txBody>
      </p:sp>
      <p:sp>
        <p:nvSpPr>
          <p:cNvPr id="19" name="TextBox 18"/>
          <p:cNvSpPr txBox="1"/>
          <p:nvPr/>
        </p:nvSpPr>
        <p:spPr>
          <a:xfrm>
            <a:off x="8458199" y="2514600"/>
            <a:ext cx="2788920" cy="548640"/>
          </a:xfrm>
          <a:prstGeom prst="rect">
            <a:avLst/>
          </a:prstGeom>
          <a:noFill/>
        </p:spPr>
        <p:txBody>
          <a:bodyPr wrap="square" anchor="t">
            <a:spAutoFit/>
          </a:bodyPr>
          <a:lstStyle/>
          <a:p>
            <a:pPr algn="l">
              <a:lnSpc>
                <a:spcPct val="115000"/>
              </a:lnSpc>
            </a:pPr>
            <a:r>
              <a:rPr sz="1700" b="1" i="0">
                <a:solidFill>
                  <a:srgbClr val="F2F4F8"/>
                </a:solidFill>
                <a:latin typeface="Avenir Next"/>
              </a:rPr>
              <a:t>Agent mode workspace</a:t>
            </a:r>
          </a:p>
        </p:txBody>
      </p:sp>
      <p:sp>
        <p:nvSpPr>
          <p:cNvPr id="20" name="Rounded Rectangle 19"/>
          <p:cNvSpPr/>
          <p:nvPr/>
        </p:nvSpPr>
        <p:spPr>
          <a:xfrm>
            <a:off x="8458199" y="3063240"/>
            <a:ext cx="1042416" cy="292608"/>
          </a:xfrm>
          <a:prstGeom prst="roundRect">
            <a:avLst>
              <a:gd name="adj" fmla="val 50000"/>
            </a:avLst>
          </a:prstGeom>
          <a:solidFill>
            <a:srgbClr val="0B0F1A"/>
          </a:solidFill>
          <a:ln w="12700">
            <a:solidFill>
              <a:srgbClr val="5EE6C0"/>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5EE6C0"/>
                </a:solidFill>
                <a:latin typeface="Avenir Next"/>
              </a:rPr>
              <a:t>NEXT</a:t>
            </a:r>
          </a:p>
        </p:txBody>
      </p:sp>
      <p:sp>
        <p:nvSpPr>
          <p:cNvPr id="21" name="TextBox 20"/>
          <p:cNvSpPr txBox="1"/>
          <p:nvPr/>
        </p:nvSpPr>
        <p:spPr>
          <a:xfrm>
            <a:off x="502920" y="3886200"/>
            <a:ext cx="11155680" cy="914400"/>
          </a:xfrm>
          <a:prstGeom prst="rect">
            <a:avLst/>
          </a:prstGeom>
          <a:noFill/>
        </p:spPr>
        <p:txBody>
          <a:bodyPr wrap="square" anchor="t">
            <a:spAutoFit/>
          </a:bodyPr>
          <a:lstStyle/>
          <a:p>
            <a:pPr algn="l">
              <a:lnSpc>
                <a:spcPct val="130000"/>
              </a:lnSpc>
            </a:pPr>
            <a:r>
              <a:rPr sz="2100" b="0" i="1">
                <a:solidFill>
                  <a:srgbClr val="5EE6C0"/>
                </a:solidFill>
                <a:latin typeface="Avenir Next"/>
              </a:rPr>
              <a:t>Structured, actionable workflows → scalable user growth, real brand impact.</a:t>
            </a:r>
          </a:p>
        </p:txBody>
      </p:sp>
      <p:sp>
        <p:nvSpPr>
          <p:cNvPr id="22" name="TextBox 21"/>
          <p:cNvSpPr txBox="1"/>
          <p:nvPr/>
        </p:nvSpPr>
        <p:spPr>
          <a:xfrm>
            <a:off x="502920" y="4892040"/>
            <a:ext cx="11155680" cy="1188720"/>
          </a:xfrm>
          <a:prstGeom prst="rect">
            <a:avLst/>
          </a:prstGeom>
          <a:noFill/>
        </p:spPr>
        <p:txBody>
          <a:bodyPr wrap="square" anchor="t">
            <a:spAutoFit/>
          </a:bodyPr>
          <a:lstStyle/>
          <a:p>
            <a:pPr algn="l">
              <a:lnSpc>
                <a:spcPct val="115000"/>
              </a:lnSpc>
            </a:pPr>
            <a:r>
              <a:rPr sz="2600" b="1" i="0">
                <a:solidFill>
                  <a:srgbClr val="F2F4F8"/>
                </a:solidFill>
                <a:latin typeface="Avenir Next"/>
              </a:rPr>
              <a:t>We've built the first two stages. Now we're building the third.</a:t>
            </a:r>
          </a:p>
        </p:txBody>
      </p:sp>
      <p:sp>
        <p:nvSpPr>
          <p:cNvPr id="23" name="TextBox 22"/>
          <p:cNvSpPr txBox="1"/>
          <p:nvPr/>
        </p:nvSpPr>
        <p:spPr>
          <a:xfrm>
            <a:off x="502920" y="5806440"/>
            <a:ext cx="5486400" cy="457200"/>
          </a:xfrm>
          <a:prstGeom prst="rect">
            <a:avLst/>
          </a:prstGeom>
          <a:noFill/>
        </p:spPr>
        <p:txBody>
          <a:bodyPr wrap="square" anchor="t">
            <a:spAutoFit/>
          </a:bodyPr>
          <a:lstStyle/>
          <a:p>
            <a:pPr algn="l">
              <a:lnSpc>
                <a:spcPct val="115000"/>
              </a:lnSpc>
            </a:pPr>
            <a:r>
              <a:rPr sz="1800" b="0" i="1">
                <a:solidFill>
                  <a:srgbClr val="A6AFC2"/>
                </a:solidFill>
                <a:latin typeface="Avenir Next"/>
              </a:rPr>
              <a:t>Thank you.</a:t>
            </a:r>
          </a:p>
        </p:txBody>
      </p:sp>
      <p:sp>
        <p:nvSpPr>
          <p:cNvPr id="24" name="TextBox 23"/>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