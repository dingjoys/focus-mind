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LaunchMinds is the Agentic Campaign Operations System for project teams. Instead of helping with one isolated marketing task, it maintains project intelligence, carries campaign work across sessions, and moves from an objective to a verified outcome within explicit approval boundaries. We built it on Minds because campaign operations are long-running, stateful, multi-party, and increasingly transactional. Our name reflects that directly — Launch, plus Minds — because everything we're about to show you is built on your platform, not next to it. Today I want to show you how we're moving from assisted work to persistent, accountable campaign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Campaign operations today are stitched together by hand — one tool for campaign design, another for deployment, a spreadsheet for resource orchestration, and a person holding it all in their head. Nothing persists between sessions, and nothing is accountable across the full lifecycle, from objective to verified outcome. We don't think the fix is another point tool. It's a system that carries state, enforces approval, and stays accountable across the entire campaign lifecycle.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Minds is not simply the model underneath LaunchMinds. It is the horizontal agent platform that gives every Mind continuity, identity, memory, tools, collaboration, and the ability to keep working beyond a single chat. LaunchMinds is the vertical operating layer built on top. We maintain the trusted project intelligence, campaign state, approval rules, budget constraints, participant evidence, settlement logic, and outcome history. Minds provides the general ability to reason and act. LaunchMinds defines how that ability operates safely and measurably inside campaign operations. That is the division of labor: Minds makes agents persistent and capable; LaunchMinds makes campaign operations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you've watched how coding assistants evolved, you've seen this arc: first, assisted completion — suggestions, not action. Then single-session execution — an agent that completes a full task in one sitting, with a human watching. Then persistent, bounded operation — long-running, accountable, checking its own work within explicit limits. We're building LaunchMinds through that same three-stage arc, applied to campaign operations instead of code. And because we built it Minds-native from the start, each stage is a Minds workflow — not a script with a model bolted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one is assisted completion. A Mind drafts campaign structures, task mechanics, and copy grounded in the trusted project intelligence maintained by LaunchMinds. The operator reviews and approves every output. The value at this stage is speed and consistency, but the human still owns every step of the workflow.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two is single-session execution. One persistent Mind can take a project from registration and briefing through campaign planning and deployment preparation without handoffs between different tools. LaunchMinds supplies the campaign-specific intelligence, Skills, state, and permissions. Minds supplies the persistent agent runtime and tool execution. This is where the Mind stops only suggesting and starts completing real operational work — while a human still supervises the session and approves high-impact actions.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is not simply about adding more agents. It is the shift from single-session execution to persistent, bounded campaign operations. Each project gets a continuously maintained operating state: its objectives, constraints, budgets, active campaigns, participant evidence, pending approvals, unresolved work, and results. Minds provides the persistent agents, memory, tools, and coordination. LaunchMinds provides the campaign control plane: the trusted project intelligence, action permissions, approval gates, verification rules, and settlement logic. A dynamic team of Minds can form around each campaign — researching, planning, executing, monitoring, verifying, and recovering — without being locked into a fixed pipeline or permanent set of roles. The shape of the team follows the work. Humans define the mandate and approve high-impact actions. Routine operations continue autonomously within those boundaries. Every action is logged, participation is verified before rewards are released, and real outcomes update the next plan. That closes the campaign operations loop: plan, approve, execute, verify, settle, and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two stages built and live today, one stage actively in motion, built on Minds from day one — not as an integration bolted on after the fact, but as the foundation. Minds makes agents persistent and capable. LaunchMinds makes campaign operations accountable. We're showing you this because we think it's a good answer to the question every platform has to answer eventually — what gets built on top of us? We'd like to keep building that answer together, with your platform and your community. Thanks for the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691640"/>
            <a:ext cx="10058400" cy="457200"/>
          </a:xfrm>
          <a:prstGeom prst="rect">
            <a:avLst/>
          </a:prstGeom>
          <a:noFill/>
        </p:spPr>
        <p:txBody>
          <a:bodyPr wrap="square" anchor="t">
            <a:spAutoFit/>
          </a:bodyPr>
          <a:lstStyle/>
          <a:p>
            <a:pPr algn="l">
              <a:lnSpc>
                <a:spcPct val="115000"/>
              </a:lnSpc>
            </a:pPr>
            <a:r>
              <a:rPr sz="2000" b="1" i="0">
                <a:solidFill>
                  <a:srgbClr val="5EE6C0"/>
                </a:solidFill>
                <a:latin typeface="Avenir Next"/>
              </a:rPr>
              <a:t>LAUNCHMINDS</a:t>
            </a:r>
          </a:p>
        </p:txBody>
      </p:sp>
      <p:sp>
        <p:nvSpPr>
          <p:cNvPr id="4" name="TextBox 3"/>
          <p:cNvSpPr txBox="1"/>
          <p:nvPr/>
        </p:nvSpPr>
        <p:spPr>
          <a:xfrm>
            <a:off x="777240" y="2103120"/>
            <a:ext cx="10515600" cy="1737360"/>
          </a:xfrm>
          <a:prstGeom prst="rect">
            <a:avLst/>
          </a:prstGeom>
          <a:noFill/>
        </p:spPr>
        <p:txBody>
          <a:bodyPr wrap="square" anchor="t">
            <a:spAutoFit/>
          </a:bodyPr>
          <a:lstStyle/>
          <a:p>
            <a:pPr algn="l">
              <a:lnSpc>
                <a:spcPct val="105000"/>
              </a:lnSpc>
            </a:pPr>
            <a:r>
              <a:rPr sz="5400" b="1" i="0">
                <a:solidFill>
                  <a:srgbClr val="F2F4F8"/>
                </a:solidFill>
                <a:latin typeface="Avenir Next"/>
              </a:rPr>
              <a:t>From Assistant</a:t>
            </a:r>
          </a:p>
          <a:p>
            <a:pPr algn="l">
              <a:lnSpc>
                <a:spcPct val="105000"/>
              </a:lnSpc>
            </a:pPr>
            <a:r>
              <a:rPr sz="5400" b="1" i="0">
                <a:solidFill>
                  <a:srgbClr val="F2F4F8"/>
                </a:solidFill>
                <a:latin typeface="Avenir Next"/>
              </a:rPr>
              <a:t>to Autonomous</a:t>
            </a:r>
          </a:p>
        </p:txBody>
      </p:sp>
      <p:sp>
        <p:nvSpPr>
          <p:cNvPr id="5" name="TextBox 4"/>
          <p:cNvSpPr txBox="1"/>
          <p:nvPr/>
        </p:nvSpPr>
        <p:spPr>
          <a:xfrm>
            <a:off x="822960" y="3931920"/>
            <a:ext cx="9601200" cy="548640"/>
          </a:xfrm>
          <a:prstGeom prst="rect">
            <a:avLst/>
          </a:prstGeom>
          <a:noFill/>
        </p:spPr>
        <p:txBody>
          <a:bodyPr wrap="square" anchor="t">
            <a:spAutoFit/>
          </a:bodyPr>
          <a:lstStyle/>
          <a:p>
            <a:pPr algn="l">
              <a:lnSpc>
                <a:spcPct val="115000"/>
              </a:lnSpc>
            </a:pPr>
            <a:r>
              <a:rPr sz="1900" b="0" i="1">
                <a:solidFill>
                  <a:srgbClr val="A6AFC2"/>
                </a:solidFill>
                <a:latin typeface="Avenir Next"/>
              </a:rPr>
              <a:t>Built on Minds, from day one.</a:t>
            </a:r>
          </a:p>
        </p:txBody>
      </p:sp>
      <p:sp>
        <p:nvSpPr>
          <p:cNvPr id="6" name="TextBox 5"/>
          <p:cNvSpPr txBox="1"/>
          <p:nvPr/>
        </p:nvSpPr>
        <p:spPr>
          <a:xfrm>
            <a:off x="822960" y="4663440"/>
            <a:ext cx="9875520" cy="1645920"/>
          </a:xfrm>
          <a:prstGeom prst="rect">
            <a:avLst/>
          </a:prstGeom>
          <a:noFill/>
        </p:spPr>
        <p:txBody>
          <a:bodyPr wrap="square">
            <a:spAutoFit/>
          </a:bodyPr>
          <a:lstStyle/>
          <a:p>
            <a:pPr>
              <a:lnSpc>
                <a:spcPct val="120000"/>
              </a:lnSpc>
              <a:spcAft>
                <a:spcPts val="800"/>
              </a:spcAft>
            </a:pPr>
            <a:r>
              <a:rPr sz="1500">
                <a:solidFill>
                  <a:srgbClr val="A6AFC2"/>
                </a:solidFill>
                <a:latin typeface="Avenir Next"/>
              </a:rPr>
              <a:t>—  Agentic Campaign Operations System for project teams</a:t>
            </a:r>
          </a:p>
          <a:p>
            <a:pPr>
              <a:lnSpc>
                <a:spcPct val="120000"/>
              </a:lnSpc>
              <a:spcAft>
                <a:spcPts val="800"/>
              </a:spcAft>
            </a:pPr>
            <a:r>
              <a:rPr sz="1500">
                <a:solidFill>
                  <a:srgbClr val="A6AFC2"/>
                </a:solidFill>
                <a:latin typeface="Avenir Next"/>
              </a:rPr>
              <a:t>—  Built on Minds' persistent agent platform</a:t>
            </a:r>
          </a:p>
          <a:p>
            <a:pPr>
              <a:lnSpc>
                <a:spcPct val="120000"/>
              </a:lnSpc>
              <a:spcAft>
                <a:spcPts val="800"/>
              </a:spcAft>
            </a:pPr>
            <a:r>
              <a:rPr sz="1500">
                <a:solidFill>
                  <a:srgbClr val="A6AFC2"/>
                </a:solidFill>
                <a:latin typeface="Avenir Next"/>
              </a:rPr>
              <a:t>—  Plan → Approve → Execute → Verify → Settle → Learn</a:t>
            </a:r>
          </a:p>
        </p:txBody>
      </p:sp>
      <p:sp>
        <p:nvSpPr>
          <p:cNvPr id="7" name="TextBox 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PROBLEM</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01 / 07</a:t>
            </a:r>
          </a:p>
        </p:txBody>
      </p:sp>
      <p:sp>
        <p:nvSpPr>
          <p:cNvPr id="5" name="TextBox 4"/>
          <p:cNvSpPr txBox="1"/>
          <p:nvPr/>
        </p:nvSpPr>
        <p:spPr>
          <a:xfrm>
            <a:off x="502920" y="960120"/>
            <a:ext cx="10515600" cy="1188720"/>
          </a:xfrm>
          <a:prstGeom prst="rect">
            <a:avLst/>
          </a:prstGeom>
          <a:noFill/>
        </p:spPr>
        <p:txBody>
          <a:bodyPr wrap="square" anchor="t">
            <a:spAutoFit/>
          </a:bodyPr>
          <a:lstStyle/>
          <a:p>
            <a:pPr algn="l">
              <a:lnSpc>
                <a:spcPct val="110000"/>
              </a:lnSpc>
            </a:pPr>
            <a:r>
              <a:rPr sz="3400" b="1" i="0">
                <a:solidFill>
                  <a:srgbClr val="F2F4F8"/>
                </a:solidFill>
                <a:latin typeface="Avenir Next"/>
              </a:rPr>
              <a:t>Campaign operations today are</a:t>
            </a:r>
          </a:p>
          <a:p>
            <a:pPr algn="l">
              <a:lnSpc>
                <a:spcPct val="110000"/>
              </a:lnSpc>
            </a:pPr>
            <a:r>
              <a:rPr sz="3400" b="1" i="0">
                <a:solidFill>
                  <a:srgbClr val="F2F4F8"/>
                </a:solidFill>
                <a:latin typeface="Avenir Next"/>
              </a:rPr>
              <a:t>stitched together by hand</a:t>
            </a:r>
          </a:p>
        </p:txBody>
      </p:sp>
      <p:sp>
        <p:nvSpPr>
          <p:cNvPr id="6" name="TextBox 5"/>
          <p:cNvSpPr txBox="1"/>
          <p:nvPr/>
        </p:nvSpPr>
        <p:spPr>
          <a:xfrm>
            <a:off x="502920" y="2606040"/>
            <a:ext cx="10515600" cy="2926080"/>
          </a:xfrm>
          <a:prstGeom prst="rect">
            <a:avLst/>
          </a:prstGeom>
          <a:noFill/>
        </p:spPr>
        <p:txBody>
          <a:bodyPr wrap="square">
            <a:spAutoFit/>
          </a:bodyPr>
          <a:lstStyle/>
          <a:p>
            <a:pPr>
              <a:lnSpc>
                <a:spcPct val="120000"/>
              </a:lnSpc>
              <a:spcAft>
                <a:spcPts val="1800"/>
              </a:spcAft>
            </a:pPr>
            <a:r>
              <a:rPr sz="1900">
                <a:solidFill>
                  <a:srgbClr val="F2F4F8"/>
                </a:solidFill>
                <a:latin typeface="Avenir Next"/>
              </a:rPr>
              <a:t>—  One tool for campaign design, another for deployment, a spreadsheet for the rest</a:t>
            </a:r>
          </a:p>
          <a:p>
            <a:pPr>
              <a:lnSpc>
                <a:spcPct val="120000"/>
              </a:lnSpc>
              <a:spcAft>
                <a:spcPts val="1800"/>
              </a:spcAft>
            </a:pPr>
            <a:r>
              <a:rPr sz="1900">
                <a:solidFill>
                  <a:srgbClr val="F2F4F8"/>
                </a:solidFill>
                <a:latin typeface="Avenir Next"/>
              </a:rPr>
              <a:t>—  Campaign design, deployment, resource orchestration — all disconnected</a:t>
            </a:r>
          </a:p>
          <a:p>
            <a:pPr>
              <a:lnSpc>
                <a:spcPct val="120000"/>
              </a:lnSpc>
              <a:spcAft>
                <a:spcPts val="1800"/>
              </a:spcAft>
            </a:pPr>
            <a:r>
              <a:rPr sz="1900">
                <a:solidFill>
                  <a:srgbClr val="F2F4F8"/>
                </a:solidFill>
                <a:latin typeface="Avenir Next"/>
              </a:rPr>
              <a:t>—  Nothing persists between sessions, and nothing is accountable across the lifecycle</a:t>
            </a:r>
          </a:p>
          <a:p>
            <a:pPr>
              <a:lnSpc>
                <a:spcPct val="120000"/>
              </a:lnSpc>
              <a:spcAft>
                <a:spcPts val="1800"/>
              </a:spcAft>
            </a:pPr>
            <a:r>
              <a:rPr sz="1900">
                <a:solidFill>
                  <a:srgbClr val="F2F4F8"/>
                </a:solidFill>
                <a:latin typeface="Avenir Next"/>
              </a:rPr>
              <a:t>—  The fix isn't another point tool — it's persistent, accountable campaign operations</a:t>
            </a:r>
          </a:p>
        </p:txBody>
      </p:sp>
      <p:sp>
        <p:nvSpPr>
          <p:cNvPr id="7" name="TextBox 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POSITIONING</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02 / 07</a:t>
            </a:r>
          </a:p>
        </p:txBody>
      </p:sp>
      <p:sp>
        <p:nvSpPr>
          <p:cNvPr id="5" name="TextBox 4"/>
          <p:cNvSpPr txBox="1"/>
          <p:nvPr/>
        </p:nvSpPr>
        <p:spPr>
          <a:xfrm>
            <a:off x="502920" y="868680"/>
            <a:ext cx="11155680" cy="640080"/>
          </a:xfrm>
          <a:prstGeom prst="rect">
            <a:avLst/>
          </a:prstGeom>
          <a:noFill/>
        </p:spPr>
        <p:txBody>
          <a:bodyPr wrap="square" anchor="t">
            <a:spAutoFit/>
          </a:bodyPr>
          <a:lstStyle/>
          <a:p>
            <a:pPr algn="l">
              <a:lnSpc>
                <a:spcPct val="115000"/>
              </a:lnSpc>
            </a:pPr>
            <a:r>
              <a:rPr sz="2700" b="1" i="0">
                <a:solidFill>
                  <a:srgbClr val="F2F4F8"/>
                </a:solidFill>
                <a:latin typeface="Avenir Next"/>
              </a:rPr>
              <a:t>Minds + LaunchMinds: Platform and Vertical Control Plane</a:t>
            </a:r>
          </a:p>
        </p:txBody>
      </p:sp>
      <p:sp>
        <p:nvSpPr>
          <p:cNvPr id="6" name="Rounded Rectangle 5"/>
          <p:cNvSpPr/>
          <p:nvPr/>
        </p:nvSpPr>
        <p:spPr>
          <a:xfrm>
            <a:off x="502920" y="1600200"/>
            <a:ext cx="11155680" cy="1051560"/>
          </a:xfrm>
          <a:prstGeom prst="roundRect">
            <a:avLst>
              <a:gd name="adj" fmla="val 8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00200"/>
            <a:ext cx="73152" cy="1051560"/>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46504"/>
            <a:ext cx="10332720" cy="320040"/>
          </a:xfrm>
          <a:prstGeom prst="rect">
            <a:avLst/>
          </a:prstGeom>
          <a:noFill/>
        </p:spPr>
        <p:txBody>
          <a:bodyPr wrap="square" anchor="t">
            <a:spAutoFit/>
          </a:bodyPr>
          <a:lstStyle/>
          <a:p>
            <a:pPr algn="l">
              <a:lnSpc>
                <a:spcPct val="115000"/>
              </a:lnSpc>
            </a:pPr>
            <a:r>
              <a:rPr sz="1500" b="1" i="0">
                <a:solidFill>
                  <a:srgbClr val="7C9CFF"/>
                </a:solidFill>
                <a:latin typeface="Avenir Next"/>
              </a:rPr>
              <a:t>MINDS — horizontal agent platform</a:t>
            </a:r>
          </a:p>
        </p:txBody>
      </p:sp>
      <p:sp>
        <p:nvSpPr>
          <p:cNvPr id="9" name="TextBox 8"/>
          <p:cNvSpPr txBox="1"/>
          <p:nvPr/>
        </p:nvSpPr>
        <p:spPr>
          <a:xfrm>
            <a:off x="822960" y="2112264"/>
            <a:ext cx="10332720" cy="457200"/>
          </a:xfrm>
          <a:prstGeom prst="rect">
            <a:avLst/>
          </a:prstGeom>
          <a:noFill/>
        </p:spPr>
        <p:txBody>
          <a:bodyPr wrap="square" anchor="t">
            <a:spAutoFit/>
          </a:bodyPr>
          <a:lstStyle/>
          <a:p>
            <a:pPr algn="l">
              <a:lnSpc>
                <a:spcPct val="115000"/>
              </a:lnSpc>
            </a:pPr>
            <a:r>
              <a:rPr sz="1450" b="0" i="0">
                <a:solidFill>
                  <a:srgbClr val="A6AFC2"/>
                </a:solidFill>
                <a:latin typeface="Avenir Next"/>
              </a:rPr>
              <a:t>Model routing  ·  identity  ·  memory  ·  Skills  ·  Tools  ·  collaboration  ·  wallet</a:t>
            </a:r>
          </a:p>
        </p:txBody>
      </p:sp>
      <p:sp>
        <p:nvSpPr>
          <p:cNvPr id="10" name="TextBox 9"/>
          <p:cNvSpPr txBox="1"/>
          <p:nvPr/>
        </p:nvSpPr>
        <p:spPr>
          <a:xfrm>
            <a:off x="502920" y="2706624"/>
            <a:ext cx="11155680" cy="274320"/>
          </a:xfrm>
          <a:prstGeom prst="rect">
            <a:avLst/>
          </a:prstGeom>
          <a:noFill/>
        </p:spPr>
        <p:txBody>
          <a:bodyPr wrap="square" anchor="t">
            <a:spAutoFit/>
          </a:bodyPr>
          <a:lstStyle/>
          <a:p>
            <a:pPr algn="ctr">
              <a:lnSpc>
                <a:spcPct val="115000"/>
              </a:lnSpc>
            </a:pPr>
            <a:r>
              <a:rPr sz="2000" b="0" i="0">
                <a:solidFill>
                  <a:srgbClr val="6B748C"/>
                </a:solidFill>
                <a:latin typeface="Avenir Next"/>
              </a:rPr>
              <a:t>+</a:t>
            </a:r>
          </a:p>
        </p:txBody>
      </p:sp>
      <p:sp>
        <p:nvSpPr>
          <p:cNvPr id="11" name="Rounded Rectangle 10"/>
          <p:cNvSpPr/>
          <p:nvPr/>
        </p:nvSpPr>
        <p:spPr>
          <a:xfrm>
            <a:off x="502920" y="2999232"/>
            <a:ext cx="11155680" cy="105156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999232"/>
            <a:ext cx="73152" cy="105156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145536"/>
            <a:ext cx="10332720" cy="320040"/>
          </a:xfrm>
          <a:prstGeom prst="rect">
            <a:avLst/>
          </a:prstGeom>
          <a:noFill/>
        </p:spPr>
        <p:txBody>
          <a:bodyPr wrap="square" anchor="t">
            <a:spAutoFit/>
          </a:bodyPr>
          <a:lstStyle/>
          <a:p>
            <a:pPr algn="l">
              <a:lnSpc>
                <a:spcPct val="115000"/>
              </a:lnSpc>
            </a:pPr>
            <a:r>
              <a:rPr sz="1500" b="1" i="0">
                <a:solidFill>
                  <a:srgbClr val="5EE6C0"/>
                </a:solidFill>
                <a:latin typeface="Avenir Next"/>
              </a:rPr>
              <a:t>LAUNCHMINDS — campaign operations control plane</a:t>
            </a:r>
          </a:p>
        </p:txBody>
      </p:sp>
      <p:sp>
        <p:nvSpPr>
          <p:cNvPr id="14" name="TextBox 13"/>
          <p:cNvSpPr txBox="1"/>
          <p:nvPr/>
        </p:nvSpPr>
        <p:spPr>
          <a:xfrm>
            <a:off x="822960" y="3511296"/>
            <a:ext cx="10332720" cy="457200"/>
          </a:xfrm>
          <a:prstGeom prst="rect">
            <a:avLst/>
          </a:prstGeom>
          <a:noFill/>
        </p:spPr>
        <p:txBody>
          <a:bodyPr wrap="square" anchor="t">
            <a:spAutoFit/>
          </a:bodyPr>
          <a:lstStyle/>
          <a:p>
            <a:pPr algn="l">
              <a:lnSpc>
                <a:spcPct val="115000"/>
              </a:lnSpc>
            </a:pPr>
            <a:r>
              <a:rPr sz="1450" b="0" i="0">
                <a:solidFill>
                  <a:srgbClr val="A6AFC2"/>
                </a:solidFill>
                <a:latin typeface="Avenir Next"/>
              </a:rPr>
              <a:t>Project intelligence  ·  state  ·  approvals  ·  verification  ·  incentives  ·  settlement  ·  learning</a:t>
            </a:r>
          </a:p>
        </p:txBody>
      </p:sp>
      <p:sp>
        <p:nvSpPr>
          <p:cNvPr id="15" name="TextBox 14"/>
          <p:cNvSpPr txBox="1"/>
          <p:nvPr/>
        </p:nvSpPr>
        <p:spPr>
          <a:xfrm>
            <a:off x="502920" y="4306824"/>
            <a:ext cx="11155680" cy="457200"/>
          </a:xfrm>
          <a:prstGeom prst="rect">
            <a:avLst/>
          </a:prstGeom>
          <a:noFill/>
        </p:spPr>
        <p:txBody>
          <a:bodyPr wrap="square" anchor="t">
            <a:spAutoFit/>
          </a:bodyPr>
          <a:lstStyle/>
          <a:p>
            <a:pPr algn="l">
              <a:lnSpc>
                <a:spcPct val="115000"/>
              </a:lnSpc>
            </a:pPr>
            <a:r>
              <a:rPr sz="1700" b="0" i="1">
                <a:solidFill>
                  <a:srgbClr val="F2F4F8"/>
                </a:solidFill>
                <a:latin typeface="Avenir Next"/>
              </a:rPr>
              <a:t>Minds provides general agency; LaunchMinds provides campaign accountability.</a:t>
            </a:r>
          </a:p>
        </p:txBody>
      </p:sp>
      <p:sp>
        <p:nvSpPr>
          <p:cNvPr id="16" name="Rounded Rectangle 15"/>
          <p:cNvSpPr/>
          <p:nvPr/>
        </p:nvSpPr>
        <p:spPr>
          <a:xfrm>
            <a:off x="502920" y="4809744"/>
            <a:ext cx="11155680" cy="640080"/>
          </a:xfrm>
          <a:prstGeom prst="roundRect">
            <a:avLst>
              <a:gd name="adj" fmla="val 50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956048"/>
            <a:ext cx="11155680" cy="365760"/>
          </a:xfrm>
          <a:prstGeom prst="rect">
            <a:avLst/>
          </a:prstGeom>
          <a:noFill/>
        </p:spPr>
        <p:txBody>
          <a:bodyPr wrap="square" anchor="t">
            <a:spAutoFit/>
          </a:bodyPr>
          <a:lstStyle/>
          <a:p>
            <a:pPr algn="ctr">
              <a:lnSpc>
                <a:spcPct val="115000"/>
              </a:lnSpc>
            </a:pPr>
            <a:r>
              <a:rPr sz="1600" b="1" i="0">
                <a:solidFill>
                  <a:srgbClr val="5EE6C0"/>
                </a:solidFill>
                <a:latin typeface="Avenir Next"/>
              </a:rPr>
              <a:t>Objective  →  Approve  →  Execute  →  Verify  →  Settle  →  Learn</a:t>
            </a:r>
          </a:p>
        </p:txBody>
      </p:sp>
      <p:sp>
        <p:nvSpPr>
          <p:cNvPr id="18" name="TextBox 17"/>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FRAMEWORK</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03 / 07</a:t>
            </a:r>
          </a:p>
        </p:txBody>
      </p:sp>
      <p:sp>
        <p:nvSpPr>
          <p:cNvPr id="5" name="TextBox 4"/>
          <p:cNvSpPr txBox="1"/>
          <p:nvPr/>
        </p:nvSpPr>
        <p:spPr>
          <a:xfrm>
            <a:off x="502920" y="960120"/>
            <a:ext cx="10515600" cy="640080"/>
          </a:xfrm>
          <a:prstGeom prst="rect">
            <a:avLst/>
          </a:prstGeom>
          <a:noFill/>
        </p:spPr>
        <p:txBody>
          <a:bodyPr wrap="square" anchor="t">
            <a:spAutoFit/>
          </a:bodyPr>
          <a:lstStyle/>
          <a:p>
            <a:pPr algn="l">
              <a:lnSpc>
                <a:spcPct val="115000"/>
              </a:lnSpc>
            </a:pPr>
            <a:r>
              <a:rPr sz="3600" b="1" i="0">
                <a:solidFill>
                  <a:srgbClr val="F2F4F8"/>
                </a:solidFill>
                <a:latin typeface="Avenir Next"/>
              </a:rPr>
              <a:t>How agents evolve</a:t>
            </a:r>
          </a:p>
        </p:txBody>
      </p:sp>
      <p:sp>
        <p:nvSpPr>
          <p:cNvPr id="6" name="TextBox 5"/>
          <p:cNvSpPr txBox="1"/>
          <p:nvPr/>
        </p:nvSpPr>
        <p:spPr>
          <a:xfrm>
            <a:off x="502920" y="1691640"/>
            <a:ext cx="10789920" cy="822960"/>
          </a:xfrm>
          <a:prstGeom prst="rect">
            <a:avLst/>
          </a:prstGeom>
          <a:noFill/>
        </p:spPr>
        <p:txBody>
          <a:bodyPr wrap="square" anchor="t">
            <a:spAutoFit/>
          </a:bodyPr>
          <a:lstStyle/>
          <a:p>
            <a:pPr algn="l">
              <a:lnSpc>
                <a:spcPct val="130000"/>
              </a:lnSpc>
            </a:pPr>
            <a:r>
              <a:rPr sz="1800" b="0" i="0">
                <a:solidFill>
                  <a:srgbClr val="A6AFC2"/>
                </a:solidFill>
                <a:latin typeface="Avenir Next"/>
              </a:rPr>
              <a:t>The same arc coding tools went through.</a:t>
            </a:r>
          </a:p>
          <a:p>
            <a:pPr algn="l">
              <a:lnSpc>
                <a:spcPct val="130000"/>
              </a:lnSpc>
            </a:pPr>
            <a:r>
              <a:rPr sz="1800" b="0" i="0">
                <a:solidFill>
                  <a:srgbClr val="A6AFC2"/>
                </a:solidFill>
                <a:latin typeface="Avenir Next"/>
              </a:rPr>
              <a:t>We're climbing it stage by stage — natively on Minds.</a:t>
            </a:r>
          </a:p>
        </p:txBody>
      </p:sp>
      <p:sp>
        <p:nvSpPr>
          <p:cNvPr id="7" name="Rounded Rectangle 6"/>
          <p:cNvSpPr/>
          <p:nvPr/>
        </p:nvSpPr>
        <p:spPr>
          <a:xfrm>
            <a:off x="82296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108960"/>
            <a:ext cx="3108960" cy="365760"/>
          </a:xfrm>
          <a:prstGeom prst="rect">
            <a:avLst/>
          </a:prstGeom>
          <a:noFill/>
        </p:spPr>
        <p:txBody>
          <a:bodyPr wrap="square" anchor="t">
            <a:spAutoFit/>
          </a:bodyPr>
          <a:lstStyle/>
          <a:p>
            <a:pPr algn="ctr">
              <a:lnSpc>
                <a:spcPct val="115000"/>
              </a:lnSpc>
            </a:pPr>
            <a:r>
              <a:rPr sz="1300" b="1" i="0">
                <a:solidFill>
                  <a:srgbClr val="6B748C"/>
                </a:solidFill>
                <a:latin typeface="Avenir Next"/>
              </a:rPr>
              <a:t>STAGE 1</a:t>
            </a:r>
          </a:p>
        </p:txBody>
      </p:sp>
      <p:sp>
        <p:nvSpPr>
          <p:cNvPr id="9" name="TextBox 8"/>
          <p:cNvSpPr txBox="1"/>
          <p:nvPr/>
        </p:nvSpPr>
        <p:spPr>
          <a:xfrm>
            <a:off x="82296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Assisted</a:t>
            </a:r>
          </a:p>
          <a:p>
            <a:pPr algn="ctr">
              <a:lnSpc>
                <a:spcPct val="115000"/>
              </a:lnSpc>
            </a:pPr>
            <a:r>
              <a:rPr sz="2200" b="1" i="0">
                <a:solidFill>
                  <a:srgbClr val="F2F4F8"/>
                </a:solidFill>
                <a:latin typeface="Avenir Next"/>
              </a:rPr>
              <a:t>Completion</a:t>
            </a:r>
          </a:p>
        </p:txBody>
      </p:sp>
      <p:sp>
        <p:nvSpPr>
          <p:cNvPr id="10" name="TextBox 9"/>
          <p:cNvSpPr txBox="1"/>
          <p:nvPr/>
        </p:nvSpPr>
        <p:spPr>
          <a:xfrm>
            <a:off x="3977640" y="3703320"/>
            <a:ext cx="457200" cy="548640"/>
          </a:xfrm>
          <a:prstGeom prst="rect">
            <a:avLst/>
          </a:prstGeom>
          <a:noFill/>
        </p:spPr>
        <p:txBody>
          <a:bodyPr wrap="square" anchor="t">
            <a:spAutoFit/>
          </a:bodyPr>
          <a:lstStyle/>
          <a:p>
            <a:pPr algn="ctr">
              <a:lnSpc>
                <a:spcPct val="115000"/>
              </a:lnSpc>
            </a:pPr>
            <a:r>
              <a:rPr sz="3000" b="0" i="0">
                <a:solidFill>
                  <a:srgbClr val="A6AFC2"/>
                </a:solidFill>
                <a:latin typeface="Avenir Next"/>
              </a:rPr>
              <a:t>→</a:t>
            </a:r>
          </a:p>
        </p:txBody>
      </p:sp>
      <p:sp>
        <p:nvSpPr>
          <p:cNvPr id="11" name="Rounded Rectangle 10"/>
          <p:cNvSpPr/>
          <p:nvPr/>
        </p:nvSpPr>
        <p:spPr>
          <a:xfrm>
            <a:off x="452628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108960"/>
            <a:ext cx="3108960" cy="365760"/>
          </a:xfrm>
          <a:prstGeom prst="rect">
            <a:avLst/>
          </a:prstGeom>
          <a:noFill/>
        </p:spPr>
        <p:txBody>
          <a:bodyPr wrap="square" anchor="t">
            <a:spAutoFit/>
          </a:bodyPr>
          <a:lstStyle/>
          <a:p>
            <a:pPr algn="ctr">
              <a:lnSpc>
                <a:spcPct val="115000"/>
              </a:lnSpc>
            </a:pPr>
            <a:r>
              <a:rPr sz="1300" b="1" i="0">
                <a:solidFill>
                  <a:srgbClr val="7C9CFF"/>
                </a:solidFill>
                <a:latin typeface="Avenir Next"/>
              </a:rPr>
              <a:t>STAGE 2</a:t>
            </a:r>
          </a:p>
        </p:txBody>
      </p:sp>
      <p:sp>
        <p:nvSpPr>
          <p:cNvPr id="13" name="TextBox 12"/>
          <p:cNvSpPr txBox="1"/>
          <p:nvPr/>
        </p:nvSpPr>
        <p:spPr>
          <a:xfrm>
            <a:off x="452628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Single-Session</a:t>
            </a:r>
          </a:p>
          <a:p>
            <a:pPr algn="ctr">
              <a:lnSpc>
                <a:spcPct val="115000"/>
              </a:lnSpc>
            </a:pPr>
            <a:r>
              <a:rPr sz="2200" b="1" i="0">
                <a:solidFill>
                  <a:srgbClr val="F2F4F8"/>
                </a:solidFill>
                <a:latin typeface="Avenir Next"/>
              </a:rPr>
              <a:t>Execution</a:t>
            </a:r>
          </a:p>
        </p:txBody>
      </p:sp>
      <p:sp>
        <p:nvSpPr>
          <p:cNvPr id="14" name="TextBox 13"/>
          <p:cNvSpPr txBox="1"/>
          <p:nvPr/>
        </p:nvSpPr>
        <p:spPr>
          <a:xfrm>
            <a:off x="7680960" y="3703320"/>
            <a:ext cx="457200" cy="548640"/>
          </a:xfrm>
          <a:prstGeom prst="rect">
            <a:avLst/>
          </a:prstGeom>
          <a:noFill/>
        </p:spPr>
        <p:txBody>
          <a:bodyPr wrap="square" anchor="t">
            <a:spAutoFit/>
          </a:bodyPr>
          <a:lstStyle/>
          <a:p>
            <a:pPr algn="ctr">
              <a:lnSpc>
                <a:spcPct val="115000"/>
              </a:lnSpc>
            </a:pPr>
            <a:r>
              <a:rPr sz="3000" b="0" i="0">
                <a:solidFill>
                  <a:srgbClr val="A6AFC2"/>
                </a:solidFill>
                <a:latin typeface="Avenir Next"/>
              </a:rPr>
              <a:t>→</a:t>
            </a:r>
          </a:p>
        </p:txBody>
      </p:sp>
      <p:sp>
        <p:nvSpPr>
          <p:cNvPr id="15" name="Rounded Rectangle 14"/>
          <p:cNvSpPr/>
          <p:nvPr/>
        </p:nvSpPr>
        <p:spPr>
          <a:xfrm>
            <a:off x="822960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3108960"/>
            <a:ext cx="3108960" cy="365760"/>
          </a:xfrm>
          <a:prstGeom prst="rect">
            <a:avLst/>
          </a:prstGeom>
          <a:noFill/>
        </p:spPr>
        <p:txBody>
          <a:bodyPr wrap="square" anchor="t">
            <a:spAutoFit/>
          </a:bodyPr>
          <a:lstStyle/>
          <a:p>
            <a:pPr algn="ctr">
              <a:lnSpc>
                <a:spcPct val="115000"/>
              </a:lnSpc>
            </a:pPr>
            <a:r>
              <a:rPr sz="1300" b="1" i="0">
                <a:solidFill>
                  <a:srgbClr val="5EE6C0"/>
                </a:solidFill>
                <a:latin typeface="Avenir Next"/>
              </a:rPr>
              <a:t>STAGE 3</a:t>
            </a:r>
          </a:p>
        </p:txBody>
      </p:sp>
      <p:sp>
        <p:nvSpPr>
          <p:cNvPr id="17" name="TextBox 16"/>
          <p:cNvSpPr txBox="1"/>
          <p:nvPr/>
        </p:nvSpPr>
        <p:spPr>
          <a:xfrm>
            <a:off x="822960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Persistent,</a:t>
            </a:r>
          </a:p>
          <a:p>
            <a:pPr algn="ctr">
              <a:lnSpc>
                <a:spcPct val="115000"/>
              </a:lnSpc>
            </a:pPr>
            <a:r>
              <a:rPr sz="2200" b="1" i="0">
                <a:solidFill>
                  <a:srgbClr val="F2F4F8"/>
                </a:solidFill>
                <a:latin typeface="Avenir Next"/>
              </a:rPr>
              <a:t>Bounded Ops</a:t>
            </a:r>
          </a:p>
        </p:txBody>
      </p:sp>
      <p:sp>
        <p:nvSpPr>
          <p:cNvPr id="18" name="TextBox 17"/>
          <p:cNvSpPr txBox="1"/>
          <p:nvPr/>
        </p:nvSpPr>
        <p:spPr>
          <a:xfrm>
            <a:off x="502920" y="5532120"/>
            <a:ext cx="10789920" cy="640080"/>
          </a:xfrm>
          <a:prstGeom prst="rect">
            <a:avLst/>
          </a:prstGeom>
          <a:noFill/>
        </p:spPr>
        <p:txBody>
          <a:bodyPr wrap="square" anchor="t">
            <a:spAutoFit/>
          </a:bodyPr>
          <a:lstStyle/>
          <a:p>
            <a:pPr algn="l">
              <a:lnSpc>
                <a:spcPct val="115000"/>
              </a:lnSpc>
            </a:pPr>
            <a:r>
              <a:rPr sz="1700" b="0" i="1">
                <a:solidFill>
                  <a:srgbClr val="5EE6C0"/>
                </a:solidFill>
                <a:latin typeface="Avenir Next"/>
              </a:rPr>
              <a:t>Each stage is a Minds workflow — not a script with a model bolted on.</a:t>
            </a:r>
          </a:p>
        </p:txBody>
      </p:sp>
      <p:sp>
        <p:nvSpPr>
          <p:cNvPr id="19" name="TextBox 18"/>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1</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04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1: Assisted Completion</a:t>
            </a:r>
          </a:p>
        </p:txBody>
      </p:sp>
      <p:sp>
        <p:nvSpPr>
          <p:cNvPr id="6" name="Rounded Rectangle 5"/>
          <p:cNvSpPr/>
          <p:nvPr/>
        </p:nvSpPr>
        <p:spPr>
          <a:xfrm>
            <a:off x="9692640" y="987552"/>
            <a:ext cx="1042416" cy="292608"/>
          </a:xfrm>
          <a:prstGeom prst="roundRect">
            <a:avLst>
              <a:gd name="adj" fmla="val 50000"/>
            </a:avLst>
          </a:prstGeom>
          <a:solidFill>
            <a:srgbClr val="0B0F1A"/>
          </a:solidFill>
          <a:ln w="12700">
            <a:solidFill>
              <a:srgbClr val="6B748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6B748C"/>
                </a:solidFill>
                <a:latin typeface="Avenir Next"/>
              </a:rPr>
              <a:t>DONE</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Inline suggestions, not action</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Suggestions only — human reviews every one</a:t>
            </a:r>
          </a:p>
          <a:p>
            <a:pPr>
              <a:lnSpc>
                <a:spcPct val="120000"/>
              </a:lnSpc>
              <a:spcAft>
                <a:spcPts val="1200"/>
              </a:spcAft>
            </a:pPr>
            <a:r>
              <a:rPr sz="1450">
                <a:solidFill>
                  <a:srgbClr val="A6AFC2"/>
                </a:solidFill>
                <a:latin typeface="Avenir Next"/>
              </a:rPr>
              <a:t>—  Human stays in control of the outcome</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6B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Minds-assisted campaign drafting</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Minds drafts campaign structures, task mechanics, and copy</a:t>
            </a:r>
          </a:p>
          <a:p>
            <a:pPr>
              <a:lnSpc>
                <a:spcPct val="120000"/>
              </a:lnSpc>
              <a:spcAft>
                <a:spcPts val="1200"/>
              </a:spcAft>
            </a:pPr>
            <a:r>
              <a:rPr sz="1450">
                <a:solidFill>
                  <a:srgbClr val="F2F4F8"/>
                </a:solidFill>
                <a:latin typeface="Avenir Next"/>
              </a:rPr>
              <a:t>—  Grounded in trusted project intelligence maintained by LaunchMinds</a:t>
            </a:r>
          </a:p>
          <a:p>
            <a:pPr>
              <a:lnSpc>
                <a:spcPct val="120000"/>
              </a:lnSpc>
              <a:spcAft>
                <a:spcPts val="1200"/>
              </a:spcAft>
            </a:pPr>
            <a:r>
              <a:rPr sz="1450">
                <a:solidFill>
                  <a:srgbClr val="F2F4F8"/>
                </a:solidFill>
                <a:latin typeface="Avenir Next"/>
              </a:rPr>
              <a:t>—  Human approves every output</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Speed and consistency — but the human still owns every step.</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2</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05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2: Single-Session Execution</a:t>
            </a:r>
          </a:p>
        </p:txBody>
      </p:sp>
      <p:sp>
        <p:nvSpPr>
          <p:cNvPr id="6" name="Rounded Rectangle 5"/>
          <p:cNvSpPr/>
          <p:nvPr/>
        </p:nvSpPr>
        <p:spPr>
          <a:xfrm>
            <a:off x="9692640" y="987552"/>
            <a:ext cx="1188720" cy="292608"/>
          </a:xfrm>
          <a:prstGeom prst="roundRect">
            <a:avLst>
              <a:gd name="adj" fmla="val 50000"/>
            </a:avLst>
          </a:prstGeom>
          <a:solidFill>
            <a:srgbClr val="0B0F1A"/>
          </a:solidFill>
          <a:ln w="12700">
            <a:solidFill>
              <a:srgbClr val="7C9CFF"/>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7C9CFF"/>
                </a:solidFill>
                <a:latin typeface="Avenir Next"/>
              </a:rPr>
              <a:t>TODAY</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Full task, one sitting, human watching</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One session completes an entire task</a:t>
            </a:r>
          </a:p>
          <a:p>
            <a:pPr>
              <a:lnSpc>
                <a:spcPct val="120000"/>
              </a:lnSpc>
              <a:spcAft>
                <a:spcPts val="1200"/>
              </a:spcAft>
            </a:pPr>
            <a:r>
              <a:rPr sz="1450">
                <a:solidFill>
                  <a:srgbClr val="A6AFC2"/>
                </a:solidFill>
                <a:latin typeface="Avenir Next"/>
              </a:rPr>
              <a:t>—  A human observes, doesn't drive step by step</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7C9CFF"/>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One session, one Mind, full pipeline</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Registration + planning + deployment — no handoffs between tools</a:t>
            </a:r>
          </a:p>
          <a:p>
            <a:pPr>
              <a:lnSpc>
                <a:spcPct val="120000"/>
              </a:lnSpc>
              <a:spcAft>
                <a:spcPts val="1200"/>
              </a:spcAft>
            </a:pPr>
            <a:r>
              <a:rPr sz="1450">
                <a:solidFill>
                  <a:srgbClr val="F2F4F8"/>
                </a:solidFill>
                <a:latin typeface="Avenir Next"/>
              </a:rPr>
              <a:t>—  Runs through campaign-specific Skills, Tools, state, and approval gates on Minds</a:t>
            </a:r>
          </a:p>
          <a:p>
            <a:pPr>
              <a:lnSpc>
                <a:spcPct val="120000"/>
              </a:lnSpc>
              <a:spcAft>
                <a:spcPts val="1200"/>
              </a:spcAft>
            </a:pPr>
            <a:r>
              <a:rPr sz="1450">
                <a:solidFill>
                  <a:srgbClr val="F2F4F8"/>
                </a:solidFill>
                <a:latin typeface="Avenir Next"/>
              </a:rPr>
              <a:t>—  Minds supplies the persistent runtime and execution; LaunchMinds supplies the campaign intelligence and permissions</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The Mind stops only suggesting and starts completing real operational work.</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3</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06 / 07</a:t>
            </a:r>
          </a:p>
        </p:txBody>
      </p:sp>
      <p:sp>
        <p:nvSpPr>
          <p:cNvPr id="5" name="TextBox 4"/>
          <p:cNvSpPr txBox="1"/>
          <p:nvPr/>
        </p:nvSpPr>
        <p:spPr>
          <a:xfrm>
            <a:off x="502920" y="896112"/>
            <a:ext cx="8778240" cy="1234440"/>
          </a:xfrm>
          <a:prstGeom prst="rect">
            <a:avLst/>
          </a:prstGeom>
          <a:noFill/>
        </p:spPr>
        <p:txBody>
          <a:bodyPr wrap="square" anchor="t">
            <a:spAutoFit/>
          </a:bodyPr>
          <a:lstStyle/>
          <a:p>
            <a:pPr algn="l">
              <a:lnSpc>
                <a:spcPct val="115000"/>
              </a:lnSpc>
            </a:pPr>
            <a:r>
              <a:rPr sz="2800" b="1" i="0">
                <a:solidFill>
                  <a:srgbClr val="F2F4F8"/>
                </a:solidFill>
                <a:latin typeface="Avenir Next"/>
              </a:rPr>
              <a:t>Stage 3: Persistent, Bounded</a:t>
            </a:r>
          </a:p>
          <a:p>
            <a:pPr algn="l">
              <a:lnSpc>
                <a:spcPct val="115000"/>
              </a:lnSpc>
            </a:pPr>
            <a:r>
              <a:rPr sz="2800" b="1" i="0">
                <a:solidFill>
                  <a:srgbClr val="F2F4F8"/>
                </a:solidFill>
                <a:latin typeface="Avenir Next"/>
              </a:rPr>
              <a:t>Campaign Operations</a:t>
            </a:r>
          </a:p>
        </p:txBody>
      </p:sp>
      <p:sp>
        <p:nvSpPr>
          <p:cNvPr id="6" name="Rounded Rectangle 5"/>
          <p:cNvSpPr/>
          <p:nvPr/>
        </p:nvSpPr>
        <p:spPr>
          <a:xfrm>
            <a:off x="9464040" y="987552"/>
            <a:ext cx="2505456" cy="292608"/>
          </a:xfrm>
          <a:prstGeom prst="roundRect">
            <a:avLst>
              <a:gd name="adj" fmla="val 50000"/>
            </a:avLst>
          </a:prstGeom>
          <a:solidFill>
            <a:srgbClr val="0B0F1A"/>
          </a:solidFill>
          <a:ln w="12700">
            <a:solidFill>
              <a:srgbClr val="5EE6C0"/>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5EE6C0"/>
                </a:solidFill>
                <a:latin typeface="Avenir Next"/>
              </a:rPr>
              <a:t>NEXT MILESTONE</a:t>
            </a:r>
          </a:p>
        </p:txBody>
      </p:sp>
      <p:sp>
        <p:nvSpPr>
          <p:cNvPr id="7" name="TextBox 6"/>
          <p:cNvSpPr txBox="1"/>
          <p:nvPr/>
        </p:nvSpPr>
        <p:spPr>
          <a:xfrm>
            <a:off x="502920" y="2331720"/>
            <a:ext cx="10789920" cy="3291840"/>
          </a:xfrm>
          <a:prstGeom prst="rect">
            <a:avLst/>
          </a:prstGeom>
          <a:noFill/>
        </p:spPr>
        <p:txBody>
          <a:bodyPr wrap="square">
            <a:spAutoFit/>
          </a:bodyPr>
          <a:lstStyle/>
          <a:p>
            <a:pPr>
              <a:lnSpc>
                <a:spcPct val="120000"/>
              </a:lnSpc>
              <a:spcAft>
                <a:spcPts val="1600"/>
              </a:spcAft>
            </a:pPr>
            <a:r>
              <a:rPr sz="1750">
                <a:solidFill>
                  <a:srgbClr val="F2F4F8"/>
                </a:solidFill>
                <a:latin typeface="Avenir Next"/>
              </a:rPr>
              <a:t>—  Long-running project workspace with shared campaign state and evidence</a:t>
            </a:r>
          </a:p>
          <a:p>
            <a:pPr>
              <a:lnSpc>
                <a:spcPct val="120000"/>
              </a:lnSpc>
              <a:spcAft>
                <a:spcPts val="1600"/>
              </a:spcAft>
            </a:pPr>
            <a:r>
              <a:rPr sz="1750">
                <a:solidFill>
                  <a:srgbClr val="F2F4F8"/>
                </a:solidFill>
                <a:latin typeface="Avenir Next"/>
              </a:rPr>
              <a:t>—  A dynamic team of Minds assembled around each objective</a:t>
            </a:r>
          </a:p>
          <a:p>
            <a:pPr>
              <a:lnSpc>
                <a:spcPct val="120000"/>
              </a:lnSpc>
              <a:spcAft>
                <a:spcPts val="1600"/>
              </a:spcAft>
            </a:pPr>
            <a:r>
              <a:rPr sz="1750">
                <a:solidFill>
                  <a:srgbClr val="F2F4F8"/>
                </a:solidFill>
                <a:latin typeface="Avenir Next"/>
              </a:rPr>
              <a:t>—  Approval gates for launch, budget changes, and settlement</a:t>
            </a:r>
          </a:p>
          <a:p>
            <a:pPr>
              <a:lnSpc>
                <a:spcPct val="120000"/>
              </a:lnSpc>
              <a:spcAft>
                <a:spcPts val="1600"/>
              </a:spcAft>
            </a:pPr>
            <a:r>
              <a:rPr sz="1750">
                <a:solidFill>
                  <a:srgbClr val="F2F4F8"/>
                </a:solidFill>
                <a:latin typeface="Avenir Next"/>
              </a:rPr>
              <a:t>—  Verify before reward; recover from failure; log every action</a:t>
            </a:r>
          </a:p>
          <a:p>
            <a:pPr>
              <a:lnSpc>
                <a:spcPct val="120000"/>
              </a:lnSpc>
              <a:spcAft>
                <a:spcPts val="1600"/>
              </a:spcAft>
            </a:pPr>
            <a:r>
              <a:rPr sz="1750">
                <a:solidFill>
                  <a:srgbClr val="F2F4F8"/>
                </a:solidFill>
                <a:latin typeface="Avenir Next"/>
              </a:rPr>
              <a:t>—  Every outcome improves the next campaign</a:t>
            </a:r>
          </a:p>
        </p:txBody>
      </p:sp>
      <p:sp>
        <p:nvSpPr>
          <p:cNvPr id="8" name="TextBox 7"/>
          <p:cNvSpPr txBox="1"/>
          <p:nvPr/>
        </p:nvSpPr>
        <p:spPr>
          <a:xfrm>
            <a:off x="502920" y="5806440"/>
            <a:ext cx="10789920" cy="457200"/>
          </a:xfrm>
          <a:prstGeom prst="rect">
            <a:avLst/>
          </a:prstGeom>
          <a:noFill/>
        </p:spPr>
        <p:txBody>
          <a:bodyPr wrap="square" anchor="t">
            <a:spAutoFit/>
          </a:bodyPr>
          <a:lstStyle/>
          <a:p>
            <a:pPr algn="l">
              <a:lnSpc>
                <a:spcPct val="115000"/>
              </a:lnSpc>
            </a:pPr>
            <a:r>
              <a:rPr sz="1450" b="0" i="1">
                <a:solidFill>
                  <a:srgbClr val="5EE6C0"/>
                </a:solidFill>
                <a:latin typeface="Avenir Next"/>
              </a:rPr>
              <a:t>The shape of the team follows the work — not a fixed pipeline of roles.</a:t>
            </a:r>
          </a:p>
        </p:txBody>
      </p:sp>
      <p:sp>
        <p:nvSpPr>
          <p:cNvPr id="9" name="TextBox 8"/>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WHERE THIS GOES</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07 / 07</a:t>
            </a:r>
          </a:p>
        </p:txBody>
      </p:sp>
      <p:sp>
        <p:nvSpPr>
          <p:cNvPr id="5" name="TextBox 4"/>
          <p:cNvSpPr txBox="1"/>
          <p:nvPr/>
        </p:nvSpPr>
        <p:spPr>
          <a:xfrm>
            <a:off x="502920" y="914400"/>
            <a:ext cx="10515600" cy="640080"/>
          </a:xfrm>
          <a:prstGeom prst="rect">
            <a:avLst/>
          </a:prstGeom>
          <a:noFill/>
        </p:spPr>
        <p:txBody>
          <a:bodyPr wrap="square" anchor="t">
            <a:spAutoFit/>
          </a:bodyPr>
          <a:lstStyle/>
          <a:p>
            <a:pPr algn="l">
              <a:lnSpc>
                <a:spcPct val="115000"/>
              </a:lnSpc>
            </a:pPr>
            <a:r>
              <a:rPr sz="3200" b="1" i="0">
                <a:solidFill>
                  <a:srgbClr val="F2F4F8"/>
                </a:solidFill>
                <a:latin typeface="Avenir Next"/>
              </a:rPr>
              <a:t>Built on Minds — with Minds' community</a:t>
            </a:r>
          </a:p>
        </p:txBody>
      </p:sp>
      <p:sp>
        <p:nvSpPr>
          <p:cNvPr id="6" name="Rounded Rectangle 5"/>
          <p:cNvSpPr/>
          <p:nvPr/>
        </p:nvSpPr>
        <p:spPr>
          <a:xfrm>
            <a:off x="502920"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3337560" cy="64008"/>
          </a:xfrm>
          <a:prstGeom prst="rect">
            <a:avLst/>
          </a:prstGeom>
          <a:solidFill>
            <a:srgbClr val="6B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57400"/>
            <a:ext cx="2788920" cy="365760"/>
          </a:xfrm>
          <a:prstGeom prst="rect">
            <a:avLst/>
          </a:prstGeom>
          <a:noFill/>
        </p:spPr>
        <p:txBody>
          <a:bodyPr wrap="square" anchor="t">
            <a:spAutoFit/>
          </a:bodyPr>
          <a:lstStyle/>
          <a:p>
            <a:pPr algn="l">
              <a:lnSpc>
                <a:spcPct val="115000"/>
              </a:lnSpc>
            </a:pPr>
            <a:r>
              <a:rPr sz="1500" b="1" i="0">
                <a:solidFill>
                  <a:srgbClr val="6B748C"/>
                </a:solidFill>
                <a:latin typeface="Avenir Next"/>
              </a:rPr>
              <a:t>Stage 1</a:t>
            </a:r>
          </a:p>
        </p:txBody>
      </p:sp>
      <p:sp>
        <p:nvSpPr>
          <p:cNvPr id="9" name="TextBox 8"/>
          <p:cNvSpPr txBox="1"/>
          <p:nvPr/>
        </p:nvSpPr>
        <p:spPr>
          <a:xfrm>
            <a:off x="777240"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Minds-assisted drafting</a:t>
            </a:r>
          </a:p>
        </p:txBody>
      </p:sp>
      <p:sp>
        <p:nvSpPr>
          <p:cNvPr id="10" name="Rounded Rectangle 9"/>
          <p:cNvSpPr/>
          <p:nvPr/>
        </p:nvSpPr>
        <p:spPr>
          <a:xfrm>
            <a:off x="777240" y="2971800"/>
            <a:ext cx="1042416" cy="292608"/>
          </a:xfrm>
          <a:prstGeom prst="roundRect">
            <a:avLst>
              <a:gd name="adj" fmla="val 50000"/>
            </a:avLst>
          </a:prstGeom>
          <a:solidFill>
            <a:srgbClr val="0B0F1A"/>
          </a:solidFill>
          <a:ln w="12700">
            <a:solidFill>
              <a:srgbClr val="6B748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6B748C"/>
                </a:solidFill>
                <a:latin typeface="Avenir Next"/>
              </a:rPr>
              <a:t>DONE</a:t>
            </a:r>
          </a:p>
        </p:txBody>
      </p:sp>
      <p:sp>
        <p:nvSpPr>
          <p:cNvPr id="11" name="Rounded Rectangle 10"/>
          <p:cNvSpPr/>
          <p:nvPr/>
        </p:nvSpPr>
        <p:spPr>
          <a:xfrm>
            <a:off x="4343400"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828800"/>
            <a:ext cx="3337560" cy="64008"/>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057400"/>
            <a:ext cx="2788920" cy="365760"/>
          </a:xfrm>
          <a:prstGeom prst="rect">
            <a:avLst/>
          </a:prstGeom>
          <a:noFill/>
        </p:spPr>
        <p:txBody>
          <a:bodyPr wrap="square" anchor="t">
            <a:spAutoFit/>
          </a:bodyPr>
          <a:lstStyle/>
          <a:p>
            <a:pPr algn="l">
              <a:lnSpc>
                <a:spcPct val="115000"/>
              </a:lnSpc>
            </a:pPr>
            <a:r>
              <a:rPr sz="1500" b="1" i="0">
                <a:solidFill>
                  <a:srgbClr val="7C9CFF"/>
                </a:solidFill>
                <a:latin typeface="Avenir Next"/>
              </a:rPr>
              <a:t>Stage 2</a:t>
            </a:r>
          </a:p>
        </p:txBody>
      </p:sp>
      <p:sp>
        <p:nvSpPr>
          <p:cNvPr id="14" name="TextBox 13"/>
          <p:cNvSpPr txBox="1"/>
          <p:nvPr/>
        </p:nvSpPr>
        <p:spPr>
          <a:xfrm>
            <a:off x="4617720"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One Mind, full session</a:t>
            </a:r>
          </a:p>
        </p:txBody>
      </p:sp>
      <p:sp>
        <p:nvSpPr>
          <p:cNvPr id="15" name="Rounded Rectangle 14"/>
          <p:cNvSpPr/>
          <p:nvPr/>
        </p:nvSpPr>
        <p:spPr>
          <a:xfrm>
            <a:off x="4617720" y="2971800"/>
            <a:ext cx="1188720" cy="292608"/>
          </a:xfrm>
          <a:prstGeom prst="roundRect">
            <a:avLst>
              <a:gd name="adj" fmla="val 50000"/>
            </a:avLst>
          </a:prstGeom>
          <a:solidFill>
            <a:srgbClr val="0B0F1A"/>
          </a:solidFill>
          <a:ln w="12700">
            <a:solidFill>
              <a:srgbClr val="7C9CFF"/>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7C9CFF"/>
                </a:solidFill>
                <a:latin typeface="Avenir Next"/>
              </a:rPr>
              <a:t>TODAY</a:t>
            </a:r>
          </a:p>
        </p:txBody>
      </p:sp>
      <p:sp>
        <p:nvSpPr>
          <p:cNvPr id="16" name="Rounded Rectangle 15"/>
          <p:cNvSpPr/>
          <p:nvPr/>
        </p:nvSpPr>
        <p:spPr>
          <a:xfrm>
            <a:off x="8183879"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79" y="1828800"/>
            <a:ext cx="3337560" cy="64008"/>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8199" y="2057400"/>
            <a:ext cx="2788920" cy="365760"/>
          </a:xfrm>
          <a:prstGeom prst="rect">
            <a:avLst/>
          </a:prstGeom>
          <a:noFill/>
        </p:spPr>
        <p:txBody>
          <a:bodyPr wrap="square" anchor="t">
            <a:spAutoFit/>
          </a:bodyPr>
          <a:lstStyle/>
          <a:p>
            <a:pPr algn="l">
              <a:lnSpc>
                <a:spcPct val="115000"/>
              </a:lnSpc>
            </a:pPr>
            <a:r>
              <a:rPr sz="1500" b="1" i="0">
                <a:solidFill>
                  <a:srgbClr val="5EE6C0"/>
                </a:solidFill>
                <a:latin typeface="Avenir Next"/>
              </a:rPr>
              <a:t>Stage 3</a:t>
            </a:r>
          </a:p>
        </p:txBody>
      </p:sp>
      <p:sp>
        <p:nvSpPr>
          <p:cNvPr id="19" name="TextBox 18"/>
          <p:cNvSpPr txBox="1"/>
          <p:nvPr/>
        </p:nvSpPr>
        <p:spPr>
          <a:xfrm>
            <a:off x="8458199"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Persistent, bounded ops</a:t>
            </a:r>
          </a:p>
        </p:txBody>
      </p:sp>
      <p:sp>
        <p:nvSpPr>
          <p:cNvPr id="20" name="Rounded Rectangle 19"/>
          <p:cNvSpPr/>
          <p:nvPr/>
        </p:nvSpPr>
        <p:spPr>
          <a:xfrm>
            <a:off x="8458199" y="2971800"/>
            <a:ext cx="1042416" cy="292608"/>
          </a:xfrm>
          <a:prstGeom prst="roundRect">
            <a:avLst>
              <a:gd name="adj" fmla="val 50000"/>
            </a:avLst>
          </a:prstGeom>
          <a:solidFill>
            <a:srgbClr val="0B0F1A"/>
          </a:solidFill>
          <a:ln w="12700">
            <a:solidFill>
              <a:srgbClr val="5EE6C0"/>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5EE6C0"/>
                </a:solidFill>
                <a:latin typeface="Avenir Next"/>
              </a:rPr>
              <a:t>NEXT</a:t>
            </a:r>
          </a:p>
        </p:txBody>
      </p:sp>
      <p:sp>
        <p:nvSpPr>
          <p:cNvPr id="21" name="TextBox 20"/>
          <p:cNvSpPr txBox="1"/>
          <p:nvPr/>
        </p:nvSpPr>
        <p:spPr>
          <a:xfrm>
            <a:off x="502920" y="3657600"/>
            <a:ext cx="11155680" cy="822960"/>
          </a:xfrm>
          <a:prstGeom prst="rect">
            <a:avLst/>
          </a:prstGeom>
          <a:noFill/>
        </p:spPr>
        <p:txBody>
          <a:bodyPr wrap="square" anchor="t">
            <a:spAutoFit/>
          </a:bodyPr>
          <a:lstStyle/>
          <a:p>
            <a:pPr algn="l">
              <a:lnSpc>
                <a:spcPct val="130000"/>
              </a:lnSpc>
            </a:pPr>
            <a:r>
              <a:rPr sz="1900" b="0" i="1">
                <a:solidFill>
                  <a:srgbClr val="5EE6C0"/>
                </a:solidFill>
                <a:latin typeface="Avenir Next"/>
              </a:rPr>
              <a:t>Not an integration bolted on after the fact — built on Minds from day one.</a:t>
            </a:r>
          </a:p>
        </p:txBody>
      </p:sp>
      <p:sp>
        <p:nvSpPr>
          <p:cNvPr id="22" name="TextBox 21"/>
          <p:cNvSpPr txBox="1"/>
          <p:nvPr/>
        </p:nvSpPr>
        <p:spPr>
          <a:xfrm>
            <a:off x="502920" y="4343400"/>
            <a:ext cx="11155680" cy="1371600"/>
          </a:xfrm>
          <a:prstGeom prst="rect">
            <a:avLst/>
          </a:prstGeom>
          <a:noFill/>
        </p:spPr>
        <p:txBody>
          <a:bodyPr wrap="square" anchor="t">
            <a:spAutoFit/>
          </a:bodyPr>
          <a:lstStyle/>
          <a:p>
            <a:pPr algn="l">
              <a:lnSpc>
                <a:spcPct val="125000"/>
              </a:lnSpc>
            </a:pPr>
            <a:r>
              <a:rPr sz="2200" b="1" i="0">
                <a:solidFill>
                  <a:srgbClr val="F2F4F8"/>
                </a:solidFill>
                <a:latin typeface="Avenir Next"/>
              </a:rPr>
              <a:t>Minds makes agents persistent and capable.</a:t>
            </a:r>
          </a:p>
          <a:p>
            <a:pPr algn="l">
              <a:lnSpc>
                <a:spcPct val="125000"/>
              </a:lnSpc>
            </a:pPr>
            <a:r>
              <a:rPr sz="2200" b="1" i="0">
                <a:solidFill>
                  <a:srgbClr val="F2F4F8"/>
                </a:solidFill>
                <a:latin typeface="Avenir Next"/>
              </a:rPr>
              <a:t>LaunchMinds makes campaign operations accountable.</a:t>
            </a:r>
          </a:p>
        </p:txBody>
      </p:sp>
      <p:sp>
        <p:nvSpPr>
          <p:cNvPr id="23" name="TextBox 22"/>
          <p:cNvSpPr txBox="1"/>
          <p:nvPr/>
        </p:nvSpPr>
        <p:spPr>
          <a:xfrm>
            <a:off x="502920" y="5623560"/>
            <a:ext cx="10515600" cy="548640"/>
          </a:xfrm>
          <a:prstGeom prst="rect">
            <a:avLst/>
          </a:prstGeom>
          <a:noFill/>
        </p:spPr>
        <p:txBody>
          <a:bodyPr wrap="square" anchor="t">
            <a:spAutoFit/>
          </a:bodyPr>
          <a:lstStyle/>
          <a:p>
            <a:pPr algn="l">
              <a:lnSpc>
                <a:spcPct val="115000"/>
              </a:lnSpc>
            </a:pPr>
            <a:r>
              <a:rPr sz="1550" b="0" i="1">
                <a:solidFill>
                  <a:srgbClr val="A6AFC2"/>
                </a:solidFill>
                <a:latin typeface="Avenir Next"/>
              </a:rPr>
              <a:t>We'd like to keep building that answer together — with your platform, and with your community.</a:t>
            </a:r>
          </a:p>
        </p:txBody>
      </p:sp>
      <p:sp>
        <p:nvSpPr>
          <p:cNvPr id="24" name="TextBox 23"/>
          <p:cNvSpPr txBox="1"/>
          <p:nvPr/>
        </p:nvSpPr>
        <p:spPr>
          <a:xfrm>
            <a:off x="502920" y="6144768"/>
            <a:ext cx="5486400" cy="365760"/>
          </a:xfrm>
          <a:prstGeom prst="rect">
            <a:avLst/>
          </a:prstGeom>
          <a:noFill/>
        </p:spPr>
        <p:txBody>
          <a:bodyPr wrap="square" anchor="t">
            <a:spAutoFit/>
          </a:bodyPr>
          <a:lstStyle/>
          <a:p>
            <a:pPr algn="l">
              <a:lnSpc>
                <a:spcPct val="115000"/>
              </a:lnSpc>
            </a:pPr>
            <a:r>
              <a:rPr sz="1600" b="0" i="1">
                <a:solidFill>
                  <a:srgbClr val="A6AFC2"/>
                </a:solidFill>
                <a:latin typeface="Avenir Next"/>
              </a:rPr>
              <a:t>Thank you.</a:t>
            </a:r>
          </a:p>
        </p:txBody>
      </p:sp>
      <p:sp>
        <p:nvSpPr>
          <p:cNvPr id="25" name="TextBox 24"/>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