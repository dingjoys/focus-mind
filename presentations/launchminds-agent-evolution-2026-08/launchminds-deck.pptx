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 today I want to walk you through how LaunchMinds is evolving, from an assistant to something increasingly autonomous. Our name: Launch, plus Minds. We picked it because Minds is the foundation everything we do stands on. What you'll see today is proof of what Minds makes possible, and where we want to take it next,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marketing today is stitched together by hand — one tool for campaign design, another for deployment, a spreadsheet for resource orchestration, and a person holding it all in their head. That doesn't scale, and it doesn't get smarter over time. We don't think the fix is another point tool. It's a system that reasons across the entire lifecycle — and that requires real intelligence at the core, not automation scripts with an AI label on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core line]. Two things are doing the work here, and they're worth separating for this room. Harness is our layer — the proprietary context and memory that make a plan actually understand a specific brand, a specific market, a specific history of what's worked before. Minds is what Harness runs on — the model layer, the actual reasoning underneath every plan we generate. Harness without Minds is just a database. Minds without Harness is generic. Together, that's what makes this Minds-driven, not just Minds-adjacent.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you've watched how coding assistants evolved, you've seen this arc: first, assisted completion — suggestions, not action. Then single-session execution — an agent that completes a full task in one sitting, with a human watching. Then true agent mode — long-running, autonomous, checking its own work. We're building LaunchMinds through that same three-stage arc, applied to brand marketing instead of code. And because we built it Minds-native from the start, each stage is a Minds workflow — not a script with a model bolted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one is done and live. This is assisted completion — Minds helping a human draft a campaign: proposing structure, pulling in context Harness has stored, drafting copy. The human stays in the loop at every step. It's the smallest, safest version of Minds-driven work, and it's already saving our team real hours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two is what's live right now. One session, one Mind, handling registration, planning, and deployment end to end — no handoffs between tools. It runs through our internal skill system, which is essentially a set of structured capabilities we hand to Minds so it can act, not just suggest. This is the first stage where Minds does real work autonomously within a session.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is our next milestone, and it's the part I think matters most for this room. We're building a per-project workspace where multiple Minds instances coordinate with each other — thinking through strategy, executing it, reading the results, and adjusting together. We're not locking that into a fixed pipeline of roles; the shape of that group adapts to what each campaign actually needs. This is the clearest place you'll see what your platform makes possible when we push it toward real multi-agent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two stages built and live today, one stage actively in motion, built on Minds from day one — not as an integration bolted on after the fact, but as the foundation. We're showing you this because we think it's a good answer to the question every platform has to answer eventually: what gets built on top of us? We'd like to keep building that answer together — with your platform, and with your community. Thanks for the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91640"/>
            <a:ext cx="10058400" cy="457200"/>
          </a:xfrm>
          <a:prstGeom prst="rect">
            <a:avLst/>
          </a:prstGeom>
          <a:noFill/>
        </p:spPr>
        <p:txBody>
          <a:bodyPr wrap="square" anchor="t">
            <a:spAutoFit/>
          </a:bodyPr>
          <a:lstStyle/>
          <a:p>
            <a:pPr algn="l">
              <a:lnSpc>
                <a:spcPct val="115000"/>
              </a:lnSpc>
            </a:pPr>
            <a:r>
              <a:rPr sz="2000" b="1" i="0">
                <a:solidFill>
                  <a:srgbClr val="5EE6C0"/>
                </a:solidFill>
                <a:latin typeface="Avenir Next"/>
              </a:rPr>
              <a:t>LAUNCHMINDS</a:t>
            </a:r>
          </a:p>
        </p:txBody>
      </p:sp>
      <p:sp>
        <p:nvSpPr>
          <p:cNvPr id="4" name="TextBox 3"/>
          <p:cNvSpPr txBox="1"/>
          <p:nvPr/>
        </p:nvSpPr>
        <p:spPr>
          <a:xfrm>
            <a:off x="777240" y="2103120"/>
            <a:ext cx="10515600" cy="1737360"/>
          </a:xfrm>
          <a:prstGeom prst="rect">
            <a:avLst/>
          </a:prstGeom>
          <a:noFill/>
        </p:spPr>
        <p:txBody>
          <a:bodyPr wrap="square" anchor="t">
            <a:spAutoFit/>
          </a:bodyPr>
          <a:lstStyle/>
          <a:p>
            <a:pPr algn="l">
              <a:lnSpc>
                <a:spcPct val="105000"/>
              </a:lnSpc>
            </a:pPr>
            <a:r>
              <a:rPr sz="5400" b="1" i="0">
                <a:solidFill>
                  <a:srgbClr val="F2F4F8"/>
                </a:solidFill>
                <a:latin typeface="Avenir Next"/>
              </a:rPr>
              <a:t>From Assistant</a:t>
            </a:r>
          </a:p>
          <a:p>
            <a:pPr algn="l">
              <a:lnSpc>
                <a:spcPct val="105000"/>
              </a:lnSpc>
            </a:pPr>
            <a:r>
              <a:rPr sz="5400" b="1" i="0">
                <a:solidFill>
                  <a:srgbClr val="F2F4F8"/>
                </a:solidFill>
                <a:latin typeface="Avenir Next"/>
              </a:rPr>
              <a:t>to Autonomous</a:t>
            </a:r>
          </a:p>
        </p:txBody>
      </p:sp>
      <p:sp>
        <p:nvSpPr>
          <p:cNvPr id="5" name="TextBox 4"/>
          <p:cNvSpPr txBox="1"/>
          <p:nvPr/>
        </p:nvSpPr>
        <p:spPr>
          <a:xfrm>
            <a:off x="822960" y="3931920"/>
            <a:ext cx="9601200" cy="548640"/>
          </a:xfrm>
          <a:prstGeom prst="rect">
            <a:avLst/>
          </a:prstGeom>
          <a:noFill/>
        </p:spPr>
        <p:txBody>
          <a:bodyPr wrap="square" anchor="t">
            <a:spAutoFit/>
          </a:bodyPr>
          <a:lstStyle/>
          <a:p>
            <a:pPr algn="l">
              <a:lnSpc>
                <a:spcPct val="115000"/>
              </a:lnSpc>
            </a:pPr>
            <a:r>
              <a:rPr sz="1900" b="0" i="1">
                <a:solidFill>
                  <a:srgbClr val="A6AFC2"/>
                </a:solidFill>
                <a:latin typeface="Avenir Next"/>
              </a:rPr>
              <a:t>Built on Minds, from day one.</a:t>
            </a:r>
          </a:p>
        </p:txBody>
      </p:sp>
      <p:sp>
        <p:nvSpPr>
          <p:cNvPr id="6" name="TextBox 5"/>
          <p:cNvSpPr txBox="1"/>
          <p:nvPr/>
        </p:nvSpPr>
        <p:spPr>
          <a:xfrm>
            <a:off x="822960" y="4663440"/>
            <a:ext cx="9875520" cy="1645920"/>
          </a:xfrm>
          <a:prstGeom prst="rect">
            <a:avLst/>
          </a:prstGeom>
          <a:noFill/>
        </p:spPr>
        <p:txBody>
          <a:bodyPr wrap="square">
            <a:spAutoFit/>
          </a:bodyPr>
          <a:lstStyle/>
          <a:p>
            <a:pPr>
              <a:lnSpc>
                <a:spcPct val="120000"/>
              </a:lnSpc>
              <a:spcAft>
                <a:spcPts val="800"/>
              </a:spcAft>
            </a:pPr>
            <a:r>
              <a:rPr sz="1500">
                <a:solidFill>
                  <a:srgbClr val="A6AFC2"/>
                </a:solidFill>
                <a:latin typeface="Avenir Next"/>
              </a:rPr>
              <a:t>—  AI-native, end-to-end brand marketing platform</a:t>
            </a:r>
          </a:p>
          <a:p>
            <a:pPr>
              <a:lnSpc>
                <a:spcPct val="120000"/>
              </a:lnSpc>
              <a:spcAft>
                <a:spcPts val="800"/>
              </a:spcAft>
            </a:pPr>
            <a:r>
              <a:rPr sz="1500">
                <a:solidFill>
                  <a:srgbClr val="A6AFC2"/>
                </a:solidFill>
                <a:latin typeface="Avenir Next"/>
              </a:rPr>
              <a:t>—  Powered by Minds, built with Harness</a:t>
            </a:r>
          </a:p>
          <a:p>
            <a:pPr>
              <a:lnSpc>
                <a:spcPct val="120000"/>
              </a:lnSpc>
              <a:spcAft>
                <a:spcPts val="800"/>
              </a:spcAft>
            </a:pPr>
            <a:r>
              <a:rPr sz="1500">
                <a:solidFill>
                  <a:srgbClr val="A6AFC2"/>
                </a:solidFill>
                <a:latin typeface="Avenir Next"/>
              </a:rPr>
              <a:t>—  A partnership story, not just a product demo</a:t>
            </a:r>
          </a:p>
        </p:txBody>
      </p:sp>
      <p:sp>
        <p:nvSpPr>
          <p:cNvPr id="7" name="TextBox 6"/>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THE PROBLEM</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01 / 07</a:t>
            </a:r>
          </a:p>
        </p:txBody>
      </p:sp>
      <p:sp>
        <p:nvSpPr>
          <p:cNvPr id="5" name="TextBox 4"/>
          <p:cNvSpPr txBox="1"/>
          <p:nvPr/>
        </p:nvSpPr>
        <p:spPr>
          <a:xfrm>
            <a:off x="502920" y="960120"/>
            <a:ext cx="10515600" cy="1188720"/>
          </a:xfrm>
          <a:prstGeom prst="rect">
            <a:avLst/>
          </a:prstGeom>
          <a:noFill/>
        </p:spPr>
        <p:txBody>
          <a:bodyPr wrap="square" anchor="t">
            <a:spAutoFit/>
          </a:bodyPr>
          <a:lstStyle/>
          <a:p>
            <a:pPr algn="l">
              <a:lnSpc>
                <a:spcPct val="110000"/>
              </a:lnSpc>
            </a:pPr>
            <a:r>
              <a:rPr sz="3600" b="1" i="0">
                <a:solidFill>
                  <a:srgbClr val="F2F4F8"/>
                </a:solidFill>
                <a:latin typeface="Avenir Next"/>
              </a:rPr>
              <a:t>Marketing today is stitched</a:t>
            </a:r>
          </a:p>
          <a:p>
            <a:pPr algn="l">
              <a:lnSpc>
                <a:spcPct val="110000"/>
              </a:lnSpc>
            </a:pPr>
            <a:r>
              <a:rPr sz="3600" b="1" i="0">
                <a:solidFill>
                  <a:srgbClr val="F2F4F8"/>
                </a:solidFill>
                <a:latin typeface="Avenir Next"/>
              </a:rPr>
              <a:t>together by hand</a:t>
            </a:r>
          </a:p>
        </p:txBody>
      </p:sp>
      <p:sp>
        <p:nvSpPr>
          <p:cNvPr id="6" name="TextBox 5"/>
          <p:cNvSpPr txBox="1"/>
          <p:nvPr/>
        </p:nvSpPr>
        <p:spPr>
          <a:xfrm>
            <a:off x="502920" y="2606040"/>
            <a:ext cx="10515600" cy="2926080"/>
          </a:xfrm>
          <a:prstGeom prst="rect">
            <a:avLst/>
          </a:prstGeom>
          <a:noFill/>
        </p:spPr>
        <p:txBody>
          <a:bodyPr wrap="square">
            <a:spAutoFit/>
          </a:bodyPr>
          <a:lstStyle/>
          <a:p>
            <a:pPr>
              <a:lnSpc>
                <a:spcPct val="120000"/>
              </a:lnSpc>
              <a:spcAft>
                <a:spcPts val="1800"/>
              </a:spcAft>
            </a:pPr>
            <a:r>
              <a:rPr sz="1900">
                <a:solidFill>
                  <a:srgbClr val="F2F4F8"/>
                </a:solidFill>
                <a:latin typeface="Avenir Next"/>
              </a:rPr>
              <a:t>—  One tool for campaign design, another for deployment, a spreadsheet for the rest</a:t>
            </a:r>
          </a:p>
          <a:p>
            <a:pPr>
              <a:lnSpc>
                <a:spcPct val="120000"/>
              </a:lnSpc>
              <a:spcAft>
                <a:spcPts val="1800"/>
              </a:spcAft>
            </a:pPr>
            <a:r>
              <a:rPr sz="1900">
                <a:solidFill>
                  <a:srgbClr val="F2F4F8"/>
                </a:solidFill>
                <a:latin typeface="Avenir Next"/>
              </a:rPr>
              <a:t>—  Campaign design, deployment, resource orchestration — all disconnected</a:t>
            </a:r>
          </a:p>
          <a:p>
            <a:pPr>
              <a:lnSpc>
                <a:spcPct val="120000"/>
              </a:lnSpc>
              <a:spcAft>
                <a:spcPts val="1800"/>
              </a:spcAft>
            </a:pPr>
            <a:r>
              <a:rPr sz="1900">
                <a:solidFill>
                  <a:srgbClr val="F2F4F8"/>
                </a:solidFill>
                <a:latin typeface="Avenir Next"/>
              </a:rPr>
              <a:t>—  It doesn't scale, and it doesn't get smarter over time</a:t>
            </a:r>
          </a:p>
          <a:p>
            <a:pPr>
              <a:lnSpc>
                <a:spcPct val="120000"/>
              </a:lnSpc>
              <a:spcAft>
                <a:spcPts val="1800"/>
              </a:spcAft>
            </a:pPr>
            <a:r>
              <a:rPr sz="1900">
                <a:solidFill>
                  <a:srgbClr val="F2F4F8"/>
                </a:solidFill>
                <a:latin typeface="Avenir Next"/>
              </a:rPr>
              <a:t>—  The fix isn't another point tool — it's a system that reasons across the whole lifecycle</a:t>
            </a:r>
          </a:p>
        </p:txBody>
      </p:sp>
      <p:sp>
        <p:nvSpPr>
          <p:cNvPr id="7" name="TextBox 6"/>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POSITIONING</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02 / 07</a:t>
            </a:r>
          </a:p>
        </p:txBody>
      </p:sp>
      <p:sp>
        <p:nvSpPr>
          <p:cNvPr id="5" name="TextBox 4"/>
          <p:cNvSpPr txBox="1"/>
          <p:nvPr/>
        </p:nvSpPr>
        <p:spPr>
          <a:xfrm>
            <a:off x="502920" y="914400"/>
            <a:ext cx="10515600" cy="640080"/>
          </a:xfrm>
          <a:prstGeom prst="rect">
            <a:avLst/>
          </a:prstGeom>
          <a:noFill/>
        </p:spPr>
        <p:txBody>
          <a:bodyPr wrap="square" anchor="t">
            <a:spAutoFit/>
          </a:bodyPr>
          <a:lstStyle/>
          <a:p>
            <a:pPr algn="l">
              <a:lnSpc>
                <a:spcPct val="115000"/>
              </a:lnSpc>
            </a:pPr>
            <a:r>
              <a:rPr sz="3400" b="1" i="0">
                <a:solidFill>
                  <a:srgbClr val="F2F4F8"/>
                </a:solidFill>
                <a:latin typeface="Avenir Next"/>
              </a:rPr>
              <a:t>LaunchMinds = Harness + Minds</a:t>
            </a:r>
          </a:p>
        </p:txBody>
      </p:sp>
      <p:sp>
        <p:nvSpPr>
          <p:cNvPr id="6" name="Rounded Rectangle 5"/>
          <p:cNvSpPr/>
          <p:nvPr/>
        </p:nvSpPr>
        <p:spPr>
          <a:xfrm>
            <a:off x="502920" y="1691640"/>
            <a:ext cx="4937760" cy="91440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37944"/>
            <a:ext cx="4297680" cy="320040"/>
          </a:xfrm>
          <a:prstGeom prst="rect">
            <a:avLst/>
          </a:prstGeom>
          <a:noFill/>
        </p:spPr>
        <p:txBody>
          <a:bodyPr wrap="square" anchor="t">
            <a:spAutoFit/>
          </a:bodyPr>
          <a:lstStyle/>
          <a:p>
            <a:pPr algn="l">
              <a:lnSpc>
                <a:spcPct val="115000"/>
              </a:lnSpc>
            </a:pPr>
            <a:r>
              <a:rPr sz="1500" b="1" i="0">
                <a:solidFill>
                  <a:srgbClr val="5EE6C0"/>
                </a:solidFill>
                <a:latin typeface="Avenir Next"/>
              </a:rPr>
              <a:t>HARNESS</a:t>
            </a:r>
          </a:p>
        </p:txBody>
      </p:sp>
      <p:sp>
        <p:nvSpPr>
          <p:cNvPr id="8" name="TextBox 7"/>
          <p:cNvSpPr txBox="1"/>
          <p:nvPr/>
        </p:nvSpPr>
        <p:spPr>
          <a:xfrm>
            <a:off x="822960" y="2167128"/>
            <a:ext cx="4297680" cy="365760"/>
          </a:xfrm>
          <a:prstGeom prst="rect">
            <a:avLst/>
          </a:prstGeom>
          <a:noFill/>
        </p:spPr>
        <p:txBody>
          <a:bodyPr wrap="square" anchor="t">
            <a:spAutoFit/>
          </a:bodyPr>
          <a:lstStyle/>
          <a:p>
            <a:pPr algn="l">
              <a:lnSpc>
                <a:spcPct val="115000"/>
              </a:lnSpc>
            </a:pPr>
            <a:r>
              <a:rPr sz="1350" b="0" i="0">
                <a:solidFill>
                  <a:srgbClr val="A6AFC2"/>
                </a:solidFill>
                <a:latin typeface="Avenir Next"/>
              </a:rPr>
              <a:t>Context layer — proprietary enterprise memory</a:t>
            </a:r>
          </a:p>
        </p:txBody>
      </p:sp>
      <p:sp>
        <p:nvSpPr>
          <p:cNvPr id="9" name="TextBox 8"/>
          <p:cNvSpPr txBox="1"/>
          <p:nvPr/>
        </p:nvSpPr>
        <p:spPr>
          <a:xfrm>
            <a:off x="5623560" y="1947672"/>
            <a:ext cx="457200" cy="457200"/>
          </a:xfrm>
          <a:prstGeom prst="rect">
            <a:avLst/>
          </a:prstGeom>
          <a:noFill/>
        </p:spPr>
        <p:txBody>
          <a:bodyPr wrap="square" anchor="t">
            <a:spAutoFit/>
          </a:bodyPr>
          <a:lstStyle/>
          <a:p>
            <a:pPr algn="ctr">
              <a:lnSpc>
                <a:spcPct val="115000"/>
              </a:lnSpc>
            </a:pPr>
            <a:r>
              <a:rPr sz="3000" b="0" i="0">
                <a:solidFill>
                  <a:srgbClr val="6B748C"/>
                </a:solidFill>
                <a:latin typeface="Avenir Next"/>
              </a:rPr>
              <a:t>+</a:t>
            </a:r>
          </a:p>
        </p:txBody>
      </p:sp>
      <p:sp>
        <p:nvSpPr>
          <p:cNvPr id="10" name="Rounded Rectangle 9"/>
          <p:cNvSpPr/>
          <p:nvPr/>
        </p:nvSpPr>
        <p:spPr>
          <a:xfrm>
            <a:off x="6263640" y="1691640"/>
            <a:ext cx="4937760" cy="914400"/>
          </a:xfrm>
          <a:prstGeom prst="roundRect">
            <a:avLst>
              <a:gd name="adj" fmla="val 8000"/>
            </a:avLst>
          </a:prstGeom>
          <a:solidFill>
            <a:srgbClr val="18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91640"/>
            <a:ext cx="73152" cy="914400"/>
          </a:xfrm>
          <a:prstGeom prst="rect">
            <a:avLst/>
          </a:prstGeom>
          <a:solidFill>
            <a:srgbClr val="7C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837944"/>
            <a:ext cx="4297680" cy="320040"/>
          </a:xfrm>
          <a:prstGeom prst="rect">
            <a:avLst/>
          </a:prstGeom>
          <a:noFill/>
        </p:spPr>
        <p:txBody>
          <a:bodyPr wrap="square" anchor="t">
            <a:spAutoFit/>
          </a:bodyPr>
          <a:lstStyle/>
          <a:p>
            <a:pPr algn="l">
              <a:lnSpc>
                <a:spcPct val="115000"/>
              </a:lnSpc>
            </a:pPr>
            <a:r>
              <a:rPr sz="1500" b="1" i="0">
                <a:solidFill>
                  <a:srgbClr val="7C9CFF"/>
                </a:solidFill>
                <a:latin typeface="Avenir Next"/>
              </a:rPr>
              <a:t>MINDS</a:t>
            </a:r>
          </a:p>
        </p:txBody>
      </p:sp>
      <p:sp>
        <p:nvSpPr>
          <p:cNvPr id="13" name="TextBox 12"/>
          <p:cNvSpPr txBox="1"/>
          <p:nvPr/>
        </p:nvSpPr>
        <p:spPr>
          <a:xfrm>
            <a:off x="6583680" y="2167128"/>
            <a:ext cx="4297680" cy="365760"/>
          </a:xfrm>
          <a:prstGeom prst="rect">
            <a:avLst/>
          </a:prstGeom>
          <a:noFill/>
        </p:spPr>
        <p:txBody>
          <a:bodyPr wrap="square" anchor="t">
            <a:spAutoFit/>
          </a:bodyPr>
          <a:lstStyle/>
          <a:p>
            <a:pPr algn="l">
              <a:lnSpc>
                <a:spcPct val="115000"/>
              </a:lnSpc>
            </a:pPr>
            <a:r>
              <a:rPr sz="1350" b="0" i="0">
                <a:solidFill>
                  <a:srgbClr val="A6AFC2"/>
                </a:solidFill>
                <a:latin typeface="Avenir Next"/>
              </a:rPr>
              <a:t>Model layer — the reasoning engine underneath</a:t>
            </a:r>
          </a:p>
        </p:txBody>
      </p:sp>
      <p:sp>
        <p:nvSpPr>
          <p:cNvPr id="14" name="Rounded Rectangle 13"/>
          <p:cNvSpPr/>
          <p:nvPr/>
        </p:nvSpPr>
        <p:spPr>
          <a:xfrm>
            <a:off x="502920" y="2926080"/>
            <a:ext cx="11155680" cy="1874519"/>
          </a:xfrm>
          <a:prstGeom prst="roundRect">
            <a:avLst>
              <a:gd name="adj" fmla="val 6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82296" cy="1874519"/>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108960"/>
            <a:ext cx="10332720" cy="1554480"/>
          </a:xfrm>
          <a:prstGeom prst="rect">
            <a:avLst/>
          </a:prstGeom>
          <a:noFill/>
        </p:spPr>
        <p:txBody>
          <a:bodyPr wrap="square" anchor="t">
            <a:spAutoFit/>
          </a:bodyPr>
          <a:lstStyle/>
          <a:p>
            <a:pPr algn="l">
              <a:lnSpc>
                <a:spcPct val="128000"/>
              </a:lnSpc>
            </a:pPr>
            <a:r>
              <a:rPr sz="1850" b="0" i="1">
                <a:solidFill>
                  <a:srgbClr val="F2F4F8"/>
                </a:solidFill>
                <a:latin typeface="Avenir Next"/>
              </a:rPr>
              <a:t>“LaunchMinds is an AI-native, end-to-end brand marketing platform that leverages Harness to build proprietary enterprise contexts, automating the entire lifecycle from campaign design and multi-platform deployment to resource orchestration.”</a:t>
            </a:r>
          </a:p>
        </p:txBody>
      </p:sp>
      <p:sp>
        <p:nvSpPr>
          <p:cNvPr id="17" name="TextBox 16"/>
          <p:cNvSpPr txBox="1"/>
          <p:nvPr/>
        </p:nvSpPr>
        <p:spPr>
          <a:xfrm>
            <a:off x="502920" y="5074920"/>
            <a:ext cx="10789920" cy="822960"/>
          </a:xfrm>
          <a:prstGeom prst="rect">
            <a:avLst/>
          </a:prstGeom>
          <a:noFill/>
        </p:spPr>
        <p:txBody>
          <a:bodyPr wrap="square" anchor="t">
            <a:spAutoFit/>
          </a:bodyPr>
          <a:lstStyle/>
          <a:p>
            <a:pPr algn="l">
              <a:lnSpc>
                <a:spcPct val="130000"/>
              </a:lnSpc>
            </a:pPr>
            <a:r>
              <a:rPr sz="1650" b="0" i="1">
                <a:solidFill>
                  <a:srgbClr val="5EE6C0"/>
                </a:solidFill>
                <a:latin typeface="Avenir Next"/>
              </a:rPr>
              <a:t>Harness without Minds is just a database. Minds without Harness is generic.</a:t>
            </a:r>
          </a:p>
          <a:p>
            <a:pPr algn="l">
              <a:lnSpc>
                <a:spcPct val="130000"/>
              </a:lnSpc>
            </a:pPr>
            <a:r>
              <a:rPr sz="1650" b="0" i="1">
                <a:solidFill>
                  <a:srgbClr val="5EE6C0"/>
                </a:solidFill>
                <a:latin typeface="Avenir Next"/>
              </a:rPr>
              <a:t>Together, that's Minds-driven — not just Minds-adjacent.</a:t>
            </a:r>
          </a:p>
        </p:txBody>
      </p:sp>
      <p:sp>
        <p:nvSpPr>
          <p:cNvPr id="18" name="TextBox 17"/>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THE FRAMEWORK</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03 / 07</a:t>
            </a:r>
          </a:p>
        </p:txBody>
      </p:sp>
      <p:sp>
        <p:nvSpPr>
          <p:cNvPr id="5" name="TextBox 4"/>
          <p:cNvSpPr txBox="1"/>
          <p:nvPr/>
        </p:nvSpPr>
        <p:spPr>
          <a:xfrm>
            <a:off x="502920" y="960120"/>
            <a:ext cx="10515600" cy="640080"/>
          </a:xfrm>
          <a:prstGeom prst="rect">
            <a:avLst/>
          </a:prstGeom>
          <a:noFill/>
        </p:spPr>
        <p:txBody>
          <a:bodyPr wrap="square" anchor="t">
            <a:spAutoFit/>
          </a:bodyPr>
          <a:lstStyle/>
          <a:p>
            <a:pPr algn="l">
              <a:lnSpc>
                <a:spcPct val="115000"/>
              </a:lnSpc>
            </a:pPr>
            <a:r>
              <a:rPr sz="3600" b="1" i="0">
                <a:solidFill>
                  <a:srgbClr val="F2F4F8"/>
                </a:solidFill>
                <a:latin typeface="Avenir Next"/>
              </a:rPr>
              <a:t>How agents evolve</a:t>
            </a:r>
          </a:p>
        </p:txBody>
      </p:sp>
      <p:sp>
        <p:nvSpPr>
          <p:cNvPr id="6" name="TextBox 5"/>
          <p:cNvSpPr txBox="1"/>
          <p:nvPr/>
        </p:nvSpPr>
        <p:spPr>
          <a:xfrm>
            <a:off x="502920" y="1691640"/>
            <a:ext cx="10789920" cy="822960"/>
          </a:xfrm>
          <a:prstGeom prst="rect">
            <a:avLst/>
          </a:prstGeom>
          <a:noFill/>
        </p:spPr>
        <p:txBody>
          <a:bodyPr wrap="square" anchor="t">
            <a:spAutoFit/>
          </a:bodyPr>
          <a:lstStyle/>
          <a:p>
            <a:pPr algn="l">
              <a:lnSpc>
                <a:spcPct val="130000"/>
              </a:lnSpc>
            </a:pPr>
            <a:r>
              <a:rPr sz="1800" b="0" i="0">
                <a:solidFill>
                  <a:srgbClr val="A6AFC2"/>
                </a:solidFill>
                <a:latin typeface="Avenir Next"/>
              </a:rPr>
              <a:t>The same arc coding tools went through.</a:t>
            </a:r>
          </a:p>
          <a:p>
            <a:pPr algn="l">
              <a:lnSpc>
                <a:spcPct val="130000"/>
              </a:lnSpc>
            </a:pPr>
            <a:r>
              <a:rPr sz="1800" b="0" i="0">
                <a:solidFill>
                  <a:srgbClr val="A6AFC2"/>
                </a:solidFill>
                <a:latin typeface="Avenir Next"/>
              </a:rPr>
              <a:t>We're climbing it stage by stage — natively on Minds.</a:t>
            </a:r>
          </a:p>
        </p:txBody>
      </p:sp>
      <p:sp>
        <p:nvSpPr>
          <p:cNvPr id="7" name="Rounded Rectangle 6"/>
          <p:cNvSpPr/>
          <p:nvPr/>
        </p:nvSpPr>
        <p:spPr>
          <a:xfrm>
            <a:off x="822960" y="2834640"/>
            <a:ext cx="3108960" cy="228600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3108960" cy="365760"/>
          </a:xfrm>
          <a:prstGeom prst="rect">
            <a:avLst/>
          </a:prstGeom>
          <a:noFill/>
        </p:spPr>
        <p:txBody>
          <a:bodyPr wrap="square" anchor="t">
            <a:spAutoFit/>
          </a:bodyPr>
          <a:lstStyle/>
          <a:p>
            <a:pPr algn="ctr">
              <a:lnSpc>
                <a:spcPct val="115000"/>
              </a:lnSpc>
            </a:pPr>
            <a:r>
              <a:rPr sz="1300" b="1" i="0">
                <a:solidFill>
                  <a:srgbClr val="6B748C"/>
                </a:solidFill>
                <a:latin typeface="Avenir Next"/>
              </a:rPr>
              <a:t>STAGE 1</a:t>
            </a:r>
          </a:p>
        </p:txBody>
      </p:sp>
      <p:sp>
        <p:nvSpPr>
          <p:cNvPr id="9" name="TextBox 8"/>
          <p:cNvSpPr txBox="1"/>
          <p:nvPr/>
        </p:nvSpPr>
        <p:spPr>
          <a:xfrm>
            <a:off x="822960" y="3611880"/>
            <a:ext cx="3108960" cy="1097280"/>
          </a:xfrm>
          <a:prstGeom prst="rect">
            <a:avLst/>
          </a:prstGeom>
          <a:noFill/>
        </p:spPr>
        <p:txBody>
          <a:bodyPr wrap="square" anchor="t">
            <a:spAutoFit/>
          </a:bodyPr>
          <a:lstStyle/>
          <a:p>
            <a:pPr algn="ctr">
              <a:lnSpc>
                <a:spcPct val="115000"/>
              </a:lnSpc>
            </a:pPr>
            <a:r>
              <a:rPr sz="2200" b="1" i="0">
                <a:solidFill>
                  <a:srgbClr val="F2F4F8"/>
                </a:solidFill>
                <a:latin typeface="Avenir Next"/>
              </a:rPr>
              <a:t>Assisted</a:t>
            </a:r>
          </a:p>
          <a:p>
            <a:pPr algn="ctr">
              <a:lnSpc>
                <a:spcPct val="115000"/>
              </a:lnSpc>
            </a:pPr>
            <a:r>
              <a:rPr sz="2200" b="1" i="0">
                <a:solidFill>
                  <a:srgbClr val="F2F4F8"/>
                </a:solidFill>
                <a:latin typeface="Avenir Next"/>
              </a:rPr>
              <a:t>Completion</a:t>
            </a:r>
          </a:p>
        </p:txBody>
      </p:sp>
      <p:sp>
        <p:nvSpPr>
          <p:cNvPr id="10" name="TextBox 9"/>
          <p:cNvSpPr txBox="1"/>
          <p:nvPr/>
        </p:nvSpPr>
        <p:spPr>
          <a:xfrm>
            <a:off x="3977640" y="3703320"/>
            <a:ext cx="457200" cy="548640"/>
          </a:xfrm>
          <a:prstGeom prst="rect">
            <a:avLst/>
          </a:prstGeom>
          <a:noFill/>
        </p:spPr>
        <p:txBody>
          <a:bodyPr wrap="square" anchor="t">
            <a:spAutoFit/>
          </a:bodyPr>
          <a:lstStyle/>
          <a:p>
            <a:pPr algn="ctr">
              <a:lnSpc>
                <a:spcPct val="115000"/>
              </a:lnSpc>
            </a:pPr>
            <a:r>
              <a:rPr sz="3000" b="0" i="0">
                <a:solidFill>
                  <a:srgbClr val="A6AFC2"/>
                </a:solidFill>
                <a:latin typeface="Avenir Next"/>
              </a:rPr>
              <a:t>→</a:t>
            </a:r>
          </a:p>
        </p:txBody>
      </p:sp>
      <p:sp>
        <p:nvSpPr>
          <p:cNvPr id="11" name="Rounded Rectangle 10"/>
          <p:cNvSpPr/>
          <p:nvPr/>
        </p:nvSpPr>
        <p:spPr>
          <a:xfrm>
            <a:off x="4526280" y="2834640"/>
            <a:ext cx="3108960" cy="228600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108960"/>
            <a:ext cx="3108960" cy="365760"/>
          </a:xfrm>
          <a:prstGeom prst="rect">
            <a:avLst/>
          </a:prstGeom>
          <a:noFill/>
        </p:spPr>
        <p:txBody>
          <a:bodyPr wrap="square" anchor="t">
            <a:spAutoFit/>
          </a:bodyPr>
          <a:lstStyle/>
          <a:p>
            <a:pPr algn="ctr">
              <a:lnSpc>
                <a:spcPct val="115000"/>
              </a:lnSpc>
            </a:pPr>
            <a:r>
              <a:rPr sz="1300" b="1" i="0">
                <a:solidFill>
                  <a:srgbClr val="7C9CFF"/>
                </a:solidFill>
                <a:latin typeface="Avenir Next"/>
              </a:rPr>
              <a:t>STAGE 2</a:t>
            </a:r>
          </a:p>
        </p:txBody>
      </p:sp>
      <p:sp>
        <p:nvSpPr>
          <p:cNvPr id="13" name="TextBox 12"/>
          <p:cNvSpPr txBox="1"/>
          <p:nvPr/>
        </p:nvSpPr>
        <p:spPr>
          <a:xfrm>
            <a:off x="4526280" y="3611880"/>
            <a:ext cx="3108960" cy="1097280"/>
          </a:xfrm>
          <a:prstGeom prst="rect">
            <a:avLst/>
          </a:prstGeom>
          <a:noFill/>
        </p:spPr>
        <p:txBody>
          <a:bodyPr wrap="square" anchor="t">
            <a:spAutoFit/>
          </a:bodyPr>
          <a:lstStyle/>
          <a:p>
            <a:pPr algn="ctr">
              <a:lnSpc>
                <a:spcPct val="115000"/>
              </a:lnSpc>
            </a:pPr>
            <a:r>
              <a:rPr sz="2200" b="1" i="0">
                <a:solidFill>
                  <a:srgbClr val="F2F4F8"/>
                </a:solidFill>
                <a:latin typeface="Avenir Next"/>
              </a:rPr>
              <a:t>Single-Session</a:t>
            </a:r>
          </a:p>
          <a:p>
            <a:pPr algn="ctr">
              <a:lnSpc>
                <a:spcPct val="115000"/>
              </a:lnSpc>
            </a:pPr>
            <a:r>
              <a:rPr sz="2200" b="1" i="0">
                <a:solidFill>
                  <a:srgbClr val="F2F4F8"/>
                </a:solidFill>
                <a:latin typeface="Avenir Next"/>
              </a:rPr>
              <a:t>Execution</a:t>
            </a:r>
          </a:p>
        </p:txBody>
      </p:sp>
      <p:sp>
        <p:nvSpPr>
          <p:cNvPr id="14" name="TextBox 13"/>
          <p:cNvSpPr txBox="1"/>
          <p:nvPr/>
        </p:nvSpPr>
        <p:spPr>
          <a:xfrm>
            <a:off x="7680960" y="3703320"/>
            <a:ext cx="457200" cy="548640"/>
          </a:xfrm>
          <a:prstGeom prst="rect">
            <a:avLst/>
          </a:prstGeom>
          <a:noFill/>
        </p:spPr>
        <p:txBody>
          <a:bodyPr wrap="square" anchor="t">
            <a:spAutoFit/>
          </a:bodyPr>
          <a:lstStyle/>
          <a:p>
            <a:pPr algn="ctr">
              <a:lnSpc>
                <a:spcPct val="115000"/>
              </a:lnSpc>
            </a:pPr>
            <a:r>
              <a:rPr sz="3000" b="0" i="0">
                <a:solidFill>
                  <a:srgbClr val="A6AFC2"/>
                </a:solidFill>
                <a:latin typeface="Avenir Next"/>
              </a:rPr>
              <a:t>→</a:t>
            </a:r>
          </a:p>
        </p:txBody>
      </p:sp>
      <p:sp>
        <p:nvSpPr>
          <p:cNvPr id="15" name="Rounded Rectangle 14"/>
          <p:cNvSpPr/>
          <p:nvPr/>
        </p:nvSpPr>
        <p:spPr>
          <a:xfrm>
            <a:off x="8229600" y="2834640"/>
            <a:ext cx="3108960" cy="228600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108960"/>
            <a:ext cx="3108960" cy="365760"/>
          </a:xfrm>
          <a:prstGeom prst="rect">
            <a:avLst/>
          </a:prstGeom>
          <a:noFill/>
        </p:spPr>
        <p:txBody>
          <a:bodyPr wrap="square" anchor="t">
            <a:spAutoFit/>
          </a:bodyPr>
          <a:lstStyle/>
          <a:p>
            <a:pPr algn="ctr">
              <a:lnSpc>
                <a:spcPct val="115000"/>
              </a:lnSpc>
            </a:pPr>
            <a:r>
              <a:rPr sz="1300" b="1" i="0">
                <a:solidFill>
                  <a:srgbClr val="5EE6C0"/>
                </a:solidFill>
                <a:latin typeface="Avenir Next"/>
              </a:rPr>
              <a:t>STAGE 3</a:t>
            </a:r>
          </a:p>
        </p:txBody>
      </p:sp>
      <p:sp>
        <p:nvSpPr>
          <p:cNvPr id="17" name="TextBox 16"/>
          <p:cNvSpPr txBox="1"/>
          <p:nvPr/>
        </p:nvSpPr>
        <p:spPr>
          <a:xfrm>
            <a:off x="8229600" y="3611880"/>
            <a:ext cx="3108960" cy="1097280"/>
          </a:xfrm>
          <a:prstGeom prst="rect">
            <a:avLst/>
          </a:prstGeom>
          <a:noFill/>
        </p:spPr>
        <p:txBody>
          <a:bodyPr wrap="square" anchor="t">
            <a:spAutoFit/>
          </a:bodyPr>
          <a:lstStyle/>
          <a:p>
            <a:pPr algn="ctr">
              <a:lnSpc>
                <a:spcPct val="115000"/>
              </a:lnSpc>
            </a:pPr>
            <a:r>
              <a:rPr sz="2200" b="1" i="0">
                <a:solidFill>
                  <a:srgbClr val="F2F4F8"/>
                </a:solidFill>
                <a:latin typeface="Avenir Next"/>
              </a:rPr>
              <a:t>Agent</a:t>
            </a:r>
          </a:p>
          <a:p>
            <a:pPr algn="ctr">
              <a:lnSpc>
                <a:spcPct val="115000"/>
              </a:lnSpc>
            </a:pPr>
            <a:r>
              <a:rPr sz="2200" b="1" i="0">
                <a:solidFill>
                  <a:srgbClr val="F2F4F8"/>
                </a:solidFill>
                <a:latin typeface="Avenir Next"/>
              </a:rPr>
              <a:t>Mode</a:t>
            </a:r>
          </a:p>
        </p:txBody>
      </p:sp>
      <p:sp>
        <p:nvSpPr>
          <p:cNvPr id="18" name="TextBox 17"/>
          <p:cNvSpPr txBox="1"/>
          <p:nvPr/>
        </p:nvSpPr>
        <p:spPr>
          <a:xfrm>
            <a:off x="502920" y="5532120"/>
            <a:ext cx="10789920" cy="640080"/>
          </a:xfrm>
          <a:prstGeom prst="rect">
            <a:avLst/>
          </a:prstGeom>
          <a:noFill/>
        </p:spPr>
        <p:txBody>
          <a:bodyPr wrap="square" anchor="t">
            <a:spAutoFit/>
          </a:bodyPr>
          <a:lstStyle/>
          <a:p>
            <a:pPr algn="l">
              <a:lnSpc>
                <a:spcPct val="115000"/>
              </a:lnSpc>
            </a:pPr>
            <a:r>
              <a:rPr sz="1700" b="0" i="1">
                <a:solidFill>
                  <a:srgbClr val="5EE6C0"/>
                </a:solidFill>
                <a:latin typeface="Avenir Next"/>
              </a:rPr>
              <a:t>Each stage is a Minds workflow — not a script with a model bolted on.</a:t>
            </a:r>
          </a:p>
        </p:txBody>
      </p:sp>
      <p:sp>
        <p:nvSpPr>
          <p:cNvPr id="19" name="TextBox 18"/>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THE EVOLUTION · STAGE 1</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04 / 07</a:t>
            </a:r>
          </a:p>
        </p:txBody>
      </p:sp>
      <p:sp>
        <p:nvSpPr>
          <p:cNvPr id="5" name="TextBox 4"/>
          <p:cNvSpPr txBox="1"/>
          <p:nvPr/>
        </p:nvSpPr>
        <p:spPr>
          <a:xfrm>
            <a:off x="502920" y="914400"/>
            <a:ext cx="7772400" cy="640080"/>
          </a:xfrm>
          <a:prstGeom prst="rect">
            <a:avLst/>
          </a:prstGeom>
          <a:noFill/>
        </p:spPr>
        <p:txBody>
          <a:bodyPr wrap="square" anchor="t">
            <a:spAutoFit/>
          </a:bodyPr>
          <a:lstStyle/>
          <a:p>
            <a:pPr algn="l">
              <a:lnSpc>
                <a:spcPct val="115000"/>
              </a:lnSpc>
            </a:pPr>
            <a:r>
              <a:rPr sz="3200" b="1" i="0">
                <a:solidFill>
                  <a:srgbClr val="F2F4F8"/>
                </a:solidFill>
                <a:latin typeface="Avenir Next"/>
              </a:rPr>
              <a:t>Stage 1: Assisted Completion</a:t>
            </a:r>
          </a:p>
        </p:txBody>
      </p:sp>
      <p:sp>
        <p:nvSpPr>
          <p:cNvPr id="6" name="Rounded Rectangle 5"/>
          <p:cNvSpPr/>
          <p:nvPr/>
        </p:nvSpPr>
        <p:spPr>
          <a:xfrm>
            <a:off x="9692640" y="987552"/>
            <a:ext cx="1042416" cy="292608"/>
          </a:xfrm>
          <a:prstGeom prst="roundRect">
            <a:avLst>
              <a:gd name="adj" fmla="val 50000"/>
            </a:avLst>
          </a:prstGeom>
          <a:solidFill>
            <a:srgbClr val="0B0F1A"/>
          </a:solidFill>
          <a:ln w="12700">
            <a:solidFill>
              <a:srgbClr val="6B748C"/>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6B748C"/>
                </a:solidFill>
                <a:latin typeface="Avenir Next"/>
              </a:rPr>
              <a:t>DONE</a:t>
            </a:r>
          </a:p>
        </p:txBody>
      </p:sp>
      <p:sp>
        <p:nvSpPr>
          <p:cNvPr id="7" name="Rounded Rectangle 6"/>
          <p:cNvSpPr/>
          <p:nvPr/>
        </p:nvSpPr>
        <p:spPr>
          <a:xfrm>
            <a:off x="502920" y="1783080"/>
            <a:ext cx="5440680" cy="4206240"/>
          </a:xfrm>
          <a:prstGeom prst="roundRect">
            <a:avLst>
              <a:gd name="adj" fmla="val 5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4709160" cy="457200"/>
          </a:xfrm>
          <a:prstGeom prst="rect">
            <a:avLst/>
          </a:prstGeom>
          <a:noFill/>
        </p:spPr>
        <p:txBody>
          <a:bodyPr wrap="square" anchor="t">
            <a:spAutoFit/>
          </a:bodyPr>
          <a:lstStyle/>
          <a:p>
            <a:pPr algn="l">
              <a:lnSpc>
                <a:spcPct val="115000"/>
              </a:lnSpc>
            </a:pPr>
            <a:r>
              <a:rPr sz="1400" b="1" i="0">
                <a:solidFill>
                  <a:srgbClr val="6B748C"/>
                </a:solidFill>
                <a:latin typeface="Avenir Next"/>
              </a:rPr>
              <a:t>IN CODING</a:t>
            </a:r>
          </a:p>
        </p:txBody>
      </p:sp>
      <p:sp>
        <p:nvSpPr>
          <p:cNvPr id="9" name="TextBox 8"/>
          <p:cNvSpPr txBox="1"/>
          <p:nvPr/>
        </p:nvSpPr>
        <p:spPr>
          <a:xfrm>
            <a:off x="868680" y="2514600"/>
            <a:ext cx="4709160" cy="548640"/>
          </a:xfrm>
          <a:prstGeom prst="rect">
            <a:avLst/>
          </a:prstGeom>
          <a:noFill/>
        </p:spPr>
        <p:txBody>
          <a:bodyPr wrap="square" anchor="t">
            <a:spAutoFit/>
          </a:bodyPr>
          <a:lstStyle/>
          <a:p>
            <a:pPr algn="l">
              <a:lnSpc>
                <a:spcPct val="120000"/>
              </a:lnSpc>
            </a:pPr>
            <a:r>
              <a:rPr sz="1900" b="1" i="0">
                <a:solidFill>
                  <a:srgbClr val="A6AFC2"/>
                </a:solidFill>
                <a:latin typeface="Avenir Next"/>
              </a:rPr>
              <a:t>Inline suggestions, not action</a:t>
            </a:r>
          </a:p>
        </p:txBody>
      </p:sp>
      <p:sp>
        <p:nvSpPr>
          <p:cNvPr id="10" name="TextBox 9"/>
          <p:cNvSpPr txBox="1"/>
          <p:nvPr/>
        </p:nvSpPr>
        <p:spPr>
          <a:xfrm>
            <a:off x="868680" y="3200400"/>
            <a:ext cx="4709160" cy="2560320"/>
          </a:xfrm>
          <a:prstGeom prst="rect">
            <a:avLst/>
          </a:prstGeom>
          <a:noFill/>
        </p:spPr>
        <p:txBody>
          <a:bodyPr wrap="square">
            <a:spAutoFit/>
          </a:bodyPr>
          <a:lstStyle/>
          <a:p>
            <a:pPr>
              <a:lnSpc>
                <a:spcPct val="120000"/>
              </a:lnSpc>
              <a:spcAft>
                <a:spcPts val="1200"/>
              </a:spcAft>
            </a:pPr>
            <a:r>
              <a:rPr sz="1450">
                <a:solidFill>
                  <a:srgbClr val="A6AFC2"/>
                </a:solidFill>
                <a:latin typeface="Avenir Next"/>
              </a:rPr>
              <a:t>—  Suggestions only — human reviews every one</a:t>
            </a:r>
          </a:p>
          <a:p>
            <a:pPr>
              <a:lnSpc>
                <a:spcPct val="120000"/>
              </a:lnSpc>
              <a:spcAft>
                <a:spcPts val="1200"/>
              </a:spcAft>
            </a:pPr>
            <a:r>
              <a:rPr sz="1450">
                <a:solidFill>
                  <a:srgbClr val="A6AFC2"/>
                </a:solidFill>
                <a:latin typeface="Avenir Next"/>
              </a:rPr>
              <a:t>—  Human stays in control of the outcome</a:t>
            </a:r>
          </a:p>
        </p:txBody>
      </p:sp>
      <p:sp>
        <p:nvSpPr>
          <p:cNvPr id="11" name="Rounded Rectangle 10"/>
          <p:cNvSpPr/>
          <p:nvPr/>
        </p:nvSpPr>
        <p:spPr>
          <a:xfrm>
            <a:off x="6263640" y="1783080"/>
            <a:ext cx="5440680" cy="4206240"/>
          </a:xfrm>
          <a:prstGeom prst="roundRect">
            <a:avLst>
              <a:gd name="adj" fmla="val 5000"/>
            </a:avLst>
          </a:prstGeom>
          <a:solidFill>
            <a:srgbClr val="18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73152" cy="4206240"/>
          </a:xfrm>
          <a:prstGeom prst="rect">
            <a:avLst/>
          </a:prstGeom>
          <a:solidFill>
            <a:srgbClr val="6B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103120"/>
            <a:ext cx="4709160" cy="457200"/>
          </a:xfrm>
          <a:prstGeom prst="rect">
            <a:avLst/>
          </a:prstGeom>
          <a:noFill/>
        </p:spPr>
        <p:txBody>
          <a:bodyPr wrap="square" anchor="t">
            <a:spAutoFit/>
          </a:bodyPr>
          <a:lstStyle/>
          <a:p>
            <a:pPr algn="l">
              <a:lnSpc>
                <a:spcPct val="115000"/>
              </a:lnSpc>
            </a:pPr>
            <a:r>
              <a:rPr sz="1400" b="1" i="0">
                <a:solidFill>
                  <a:srgbClr val="6B748C"/>
                </a:solidFill>
                <a:latin typeface="Avenir Next"/>
              </a:rPr>
              <a:t>ON MINDS, IN LAUNCHMINDS</a:t>
            </a:r>
          </a:p>
        </p:txBody>
      </p:sp>
      <p:sp>
        <p:nvSpPr>
          <p:cNvPr id="14" name="TextBox 13"/>
          <p:cNvSpPr txBox="1"/>
          <p:nvPr/>
        </p:nvSpPr>
        <p:spPr>
          <a:xfrm>
            <a:off x="6629400" y="2514600"/>
            <a:ext cx="4709160" cy="548640"/>
          </a:xfrm>
          <a:prstGeom prst="rect">
            <a:avLst/>
          </a:prstGeom>
          <a:noFill/>
        </p:spPr>
        <p:txBody>
          <a:bodyPr wrap="square" anchor="t">
            <a:spAutoFit/>
          </a:bodyPr>
          <a:lstStyle/>
          <a:p>
            <a:pPr algn="l">
              <a:lnSpc>
                <a:spcPct val="120000"/>
              </a:lnSpc>
            </a:pPr>
            <a:r>
              <a:rPr sz="1900" b="1" i="0">
                <a:solidFill>
                  <a:srgbClr val="F2F4F8"/>
                </a:solidFill>
                <a:latin typeface="Avenir Next"/>
              </a:rPr>
              <a:t>Minds-assisted campaign drafting</a:t>
            </a:r>
          </a:p>
        </p:txBody>
      </p:sp>
      <p:sp>
        <p:nvSpPr>
          <p:cNvPr id="15" name="TextBox 14"/>
          <p:cNvSpPr txBox="1"/>
          <p:nvPr/>
        </p:nvSpPr>
        <p:spPr>
          <a:xfrm>
            <a:off x="6629400" y="3200400"/>
            <a:ext cx="4709160" cy="2560320"/>
          </a:xfrm>
          <a:prstGeom prst="rect">
            <a:avLst/>
          </a:prstGeom>
          <a:noFill/>
        </p:spPr>
        <p:txBody>
          <a:bodyPr wrap="square">
            <a:spAutoFit/>
          </a:bodyPr>
          <a:lstStyle/>
          <a:p>
            <a:pPr>
              <a:lnSpc>
                <a:spcPct val="120000"/>
              </a:lnSpc>
              <a:spcAft>
                <a:spcPts val="1200"/>
              </a:spcAft>
            </a:pPr>
            <a:r>
              <a:rPr sz="1450">
                <a:solidFill>
                  <a:srgbClr val="F2F4F8"/>
                </a:solidFill>
                <a:latin typeface="Avenir Next"/>
              </a:rPr>
              <a:t>—  Minds proposes structure, drafts copy</a:t>
            </a:r>
          </a:p>
          <a:p>
            <a:pPr>
              <a:lnSpc>
                <a:spcPct val="120000"/>
              </a:lnSpc>
              <a:spcAft>
                <a:spcPts val="1200"/>
              </a:spcAft>
            </a:pPr>
            <a:r>
              <a:rPr sz="1450">
                <a:solidFill>
                  <a:srgbClr val="F2F4F8"/>
                </a:solidFill>
                <a:latin typeface="Avenir Next"/>
              </a:rPr>
              <a:t>—  Pulls in context Harness has already stored</a:t>
            </a:r>
          </a:p>
          <a:p>
            <a:pPr>
              <a:lnSpc>
                <a:spcPct val="120000"/>
              </a:lnSpc>
              <a:spcAft>
                <a:spcPts val="1200"/>
              </a:spcAft>
            </a:pPr>
            <a:r>
              <a:rPr sz="1450">
                <a:solidFill>
                  <a:srgbClr val="F2F4F8"/>
                </a:solidFill>
                <a:latin typeface="Avenir Next"/>
              </a:rPr>
              <a:t>—  Human in the loop at every step</a:t>
            </a:r>
          </a:p>
        </p:txBody>
      </p:sp>
      <p:sp>
        <p:nvSpPr>
          <p:cNvPr id="16" name="TextBox 15"/>
          <p:cNvSpPr txBox="1"/>
          <p:nvPr/>
        </p:nvSpPr>
        <p:spPr>
          <a:xfrm>
            <a:off x="502920" y="6172200"/>
            <a:ext cx="10789920" cy="365760"/>
          </a:xfrm>
          <a:prstGeom prst="rect">
            <a:avLst/>
          </a:prstGeom>
          <a:noFill/>
        </p:spPr>
        <p:txBody>
          <a:bodyPr wrap="square" anchor="t">
            <a:spAutoFit/>
          </a:bodyPr>
          <a:lstStyle/>
          <a:p>
            <a:pPr algn="l">
              <a:lnSpc>
                <a:spcPct val="115000"/>
              </a:lnSpc>
            </a:pPr>
            <a:r>
              <a:rPr sz="1350" b="0" i="1">
                <a:solidFill>
                  <a:srgbClr val="6B748C"/>
                </a:solidFill>
                <a:latin typeface="Avenir Next"/>
              </a:rPr>
              <a:t>Already saving our team real hours today.</a:t>
            </a:r>
          </a:p>
        </p:txBody>
      </p:sp>
      <p:sp>
        <p:nvSpPr>
          <p:cNvPr id="17" name="TextBox 16"/>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THE EVOLUTION · STAGE 2</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05 / 07</a:t>
            </a:r>
          </a:p>
        </p:txBody>
      </p:sp>
      <p:sp>
        <p:nvSpPr>
          <p:cNvPr id="5" name="TextBox 4"/>
          <p:cNvSpPr txBox="1"/>
          <p:nvPr/>
        </p:nvSpPr>
        <p:spPr>
          <a:xfrm>
            <a:off x="502920" y="914400"/>
            <a:ext cx="7772400" cy="640080"/>
          </a:xfrm>
          <a:prstGeom prst="rect">
            <a:avLst/>
          </a:prstGeom>
          <a:noFill/>
        </p:spPr>
        <p:txBody>
          <a:bodyPr wrap="square" anchor="t">
            <a:spAutoFit/>
          </a:bodyPr>
          <a:lstStyle/>
          <a:p>
            <a:pPr algn="l">
              <a:lnSpc>
                <a:spcPct val="115000"/>
              </a:lnSpc>
            </a:pPr>
            <a:r>
              <a:rPr sz="3200" b="1" i="0">
                <a:solidFill>
                  <a:srgbClr val="F2F4F8"/>
                </a:solidFill>
                <a:latin typeface="Avenir Next"/>
              </a:rPr>
              <a:t>Stage 2: Single-Session Execution</a:t>
            </a:r>
          </a:p>
        </p:txBody>
      </p:sp>
      <p:sp>
        <p:nvSpPr>
          <p:cNvPr id="6" name="Rounded Rectangle 5"/>
          <p:cNvSpPr/>
          <p:nvPr/>
        </p:nvSpPr>
        <p:spPr>
          <a:xfrm>
            <a:off x="9692640" y="987552"/>
            <a:ext cx="1188720" cy="292608"/>
          </a:xfrm>
          <a:prstGeom prst="roundRect">
            <a:avLst>
              <a:gd name="adj" fmla="val 50000"/>
            </a:avLst>
          </a:prstGeom>
          <a:solidFill>
            <a:srgbClr val="0B0F1A"/>
          </a:solidFill>
          <a:ln w="12700">
            <a:solidFill>
              <a:srgbClr val="7C9CFF"/>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7C9CFF"/>
                </a:solidFill>
                <a:latin typeface="Avenir Next"/>
              </a:rPr>
              <a:t>TODAY</a:t>
            </a:r>
          </a:p>
        </p:txBody>
      </p:sp>
      <p:sp>
        <p:nvSpPr>
          <p:cNvPr id="7" name="Rounded Rectangle 6"/>
          <p:cNvSpPr/>
          <p:nvPr/>
        </p:nvSpPr>
        <p:spPr>
          <a:xfrm>
            <a:off x="502920" y="1783080"/>
            <a:ext cx="5440680" cy="4206240"/>
          </a:xfrm>
          <a:prstGeom prst="roundRect">
            <a:avLst>
              <a:gd name="adj" fmla="val 5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4709160" cy="457200"/>
          </a:xfrm>
          <a:prstGeom prst="rect">
            <a:avLst/>
          </a:prstGeom>
          <a:noFill/>
        </p:spPr>
        <p:txBody>
          <a:bodyPr wrap="square" anchor="t">
            <a:spAutoFit/>
          </a:bodyPr>
          <a:lstStyle/>
          <a:p>
            <a:pPr algn="l">
              <a:lnSpc>
                <a:spcPct val="115000"/>
              </a:lnSpc>
            </a:pPr>
            <a:r>
              <a:rPr sz="1400" b="1" i="0">
                <a:solidFill>
                  <a:srgbClr val="6B748C"/>
                </a:solidFill>
                <a:latin typeface="Avenir Next"/>
              </a:rPr>
              <a:t>IN CODING</a:t>
            </a:r>
          </a:p>
        </p:txBody>
      </p:sp>
      <p:sp>
        <p:nvSpPr>
          <p:cNvPr id="9" name="TextBox 8"/>
          <p:cNvSpPr txBox="1"/>
          <p:nvPr/>
        </p:nvSpPr>
        <p:spPr>
          <a:xfrm>
            <a:off x="868680" y="2514600"/>
            <a:ext cx="4709160" cy="548640"/>
          </a:xfrm>
          <a:prstGeom prst="rect">
            <a:avLst/>
          </a:prstGeom>
          <a:noFill/>
        </p:spPr>
        <p:txBody>
          <a:bodyPr wrap="square" anchor="t">
            <a:spAutoFit/>
          </a:bodyPr>
          <a:lstStyle/>
          <a:p>
            <a:pPr algn="l">
              <a:lnSpc>
                <a:spcPct val="120000"/>
              </a:lnSpc>
            </a:pPr>
            <a:r>
              <a:rPr sz="1900" b="1" i="0">
                <a:solidFill>
                  <a:srgbClr val="A6AFC2"/>
                </a:solidFill>
                <a:latin typeface="Avenir Next"/>
              </a:rPr>
              <a:t>Full task, one sitting, human watching</a:t>
            </a:r>
          </a:p>
        </p:txBody>
      </p:sp>
      <p:sp>
        <p:nvSpPr>
          <p:cNvPr id="10" name="TextBox 9"/>
          <p:cNvSpPr txBox="1"/>
          <p:nvPr/>
        </p:nvSpPr>
        <p:spPr>
          <a:xfrm>
            <a:off x="868680" y="3200400"/>
            <a:ext cx="4709160" cy="2560320"/>
          </a:xfrm>
          <a:prstGeom prst="rect">
            <a:avLst/>
          </a:prstGeom>
          <a:noFill/>
        </p:spPr>
        <p:txBody>
          <a:bodyPr wrap="square">
            <a:spAutoFit/>
          </a:bodyPr>
          <a:lstStyle/>
          <a:p>
            <a:pPr>
              <a:lnSpc>
                <a:spcPct val="120000"/>
              </a:lnSpc>
              <a:spcAft>
                <a:spcPts val="1200"/>
              </a:spcAft>
            </a:pPr>
            <a:r>
              <a:rPr sz="1450">
                <a:solidFill>
                  <a:srgbClr val="A6AFC2"/>
                </a:solidFill>
                <a:latin typeface="Avenir Next"/>
              </a:rPr>
              <a:t>—  One session completes an entire task</a:t>
            </a:r>
          </a:p>
          <a:p>
            <a:pPr>
              <a:lnSpc>
                <a:spcPct val="120000"/>
              </a:lnSpc>
              <a:spcAft>
                <a:spcPts val="1200"/>
              </a:spcAft>
            </a:pPr>
            <a:r>
              <a:rPr sz="1450">
                <a:solidFill>
                  <a:srgbClr val="A6AFC2"/>
                </a:solidFill>
                <a:latin typeface="Avenir Next"/>
              </a:rPr>
              <a:t>—  A human observes, doesn't drive step by step</a:t>
            </a:r>
          </a:p>
        </p:txBody>
      </p:sp>
      <p:sp>
        <p:nvSpPr>
          <p:cNvPr id="11" name="Rounded Rectangle 10"/>
          <p:cNvSpPr/>
          <p:nvPr/>
        </p:nvSpPr>
        <p:spPr>
          <a:xfrm>
            <a:off x="6263640" y="1783080"/>
            <a:ext cx="5440680" cy="4206240"/>
          </a:xfrm>
          <a:prstGeom prst="roundRect">
            <a:avLst>
              <a:gd name="adj" fmla="val 5000"/>
            </a:avLst>
          </a:prstGeom>
          <a:solidFill>
            <a:srgbClr val="18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73152" cy="4206240"/>
          </a:xfrm>
          <a:prstGeom prst="rect">
            <a:avLst/>
          </a:prstGeom>
          <a:solidFill>
            <a:srgbClr val="7C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103120"/>
            <a:ext cx="4709160" cy="457200"/>
          </a:xfrm>
          <a:prstGeom prst="rect">
            <a:avLst/>
          </a:prstGeom>
          <a:noFill/>
        </p:spPr>
        <p:txBody>
          <a:bodyPr wrap="square" anchor="t">
            <a:spAutoFit/>
          </a:bodyPr>
          <a:lstStyle/>
          <a:p>
            <a:pPr algn="l">
              <a:lnSpc>
                <a:spcPct val="115000"/>
              </a:lnSpc>
            </a:pPr>
            <a:r>
              <a:rPr sz="1400" b="1" i="0">
                <a:solidFill>
                  <a:srgbClr val="7C9CFF"/>
                </a:solidFill>
                <a:latin typeface="Avenir Next"/>
              </a:rPr>
              <a:t>ON MINDS, IN LAUNCHMINDS</a:t>
            </a:r>
          </a:p>
        </p:txBody>
      </p:sp>
      <p:sp>
        <p:nvSpPr>
          <p:cNvPr id="14" name="TextBox 13"/>
          <p:cNvSpPr txBox="1"/>
          <p:nvPr/>
        </p:nvSpPr>
        <p:spPr>
          <a:xfrm>
            <a:off x="6629400" y="2514600"/>
            <a:ext cx="4709160" cy="548640"/>
          </a:xfrm>
          <a:prstGeom prst="rect">
            <a:avLst/>
          </a:prstGeom>
          <a:noFill/>
        </p:spPr>
        <p:txBody>
          <a:bodyPr wrap="square" anchor="t">
            <a:spAutoFit/>
          </a:bodyPr>
          <a:lstStyle/>
          <a:p>
            <a:pPr algn="l">
              <a:lnSpc>
                <a:spcPct val="120000"/>
              </a:lnSpc>
            </a:pPr>
            <a:r>
              <a:rPr sz="1900" b="1" i="0">
                <a:solidFill>
                  <a:srgbClr val="F2F4F8"/>
                </a:solidFill>
                <a:latin typeface="Avenir Next"/>
              </a:rPr>
              <a:t>One session, one Mind, full pipeline</a:t>
            </a:r>
          </a:p>
        </p:txBody>
      </p:sp>
      <p:sp>
        <p:nvSpPr>
          <p:cNvPr id="15" name="TextBox 14"/>
          <p:cNvSpPr txBox="1"/>
          <p:nvPr/>
        </p:nvSpPr>
        <p:spPr>
          <a:xfrm>
            <a:off x="6629400" y="3200400"/>
            <a:ext cx="4709160" cy="2560320"/>
          </a:xfrm>
          <a:prstGeom prst="rect">
            <a:avLst/>
          </a:prstGeom>
          <a:noFill/>
        </p:spPr>
        <p:txBody>
          <a:bodyPr wrap="square">
            <a:spAutoFit/>
          </a:bodyPr>
          <a:lstStyle/>
          <a:p>
            <a:pPr>
              <a:lnSpc>
                <a:spcPct val="120000"/>
              </a:lnSpc>
              <a:spcAft>
                <a:spcPts val="1200"/>
              </a:spcAft>
            </a:pPr>
            <a:r>
              <a:rPr sz="1450">
                <a:solidFill>
                  <a:srgbClr val="F2F4F8"/>
                </a:solidFill>
                <a:latin typeface="Avenir Next"/>
              </a:rPr>
              <a:t>—  Registration + planning + deployment — no handoffs between tools</a:t>
            </a:r>
          </a:p>
          <a:p>
            <a:pPr>
              <a:lnSpc>
                <a:spcPct val="120000"/>
              </a:lnSpc>
              <a:spcAft>
                <a:spcPts val="1200"/>
              </a:spcAft>
            </a:pPr>
            <a:r>
              <a:rPr sz="1450">
                <a:solidFill>
                  <a:srgbClr val="F2F4F8"/>
                </a:solidFill>
                <a:latin typeface="Avenir Next"/>
              </a:rPr>
              <a:t>—  Runs on our internal skill system: structured capabilities we hand to Minds so it can act, not just suggest</a:t>
            </a:r>
          </a:p>
          <a:p>
            <a:pPr>
              <a:lnSpc>
                <a:spcPct val="120000"/>
              </a:lnSpc>
              <a:spcAft>
                <a:spcPts val="1200"/>
              </a:spcAft>
            </a:pPr>
            <a:r>
              <a:rPr sz="1450">
                <a:solidFill>
                  <a:srgbClr val="F2F4F8"/>
                </a:solidFill>
                <a:latin typeface="Avenir Next"/>
              </a:rPr>
              <a:t>—  Minds doing real autonomous work within a session</a:t>
            </a:r>
          </a:p>
        </p:txBody>
      </p:sp>
      <p:sp>
        <p:nvSpPr>
          <p:cNvPr id="16" name="TextBox 15"/>
          <p:cNvSpPr txBox="1"/>
          <p:nvPr/>
        </p:nvSpPr>
        <p:spPr>
          <a:xfrm>
            <a:off x="502920" y="6172200"/>
            <a:ext cx="10789920" cy="365760"/>
          </a:xfrm>
          <a:prstGeom prst="rect">
            <a:avLst/>
          </a:prstGeom>
          <a:noFill/>
        </p:spPr>
        <p:txBody>
          <a:bodyPr wrap="square" anchor="t">
            <a:spAutoFit/>
          </a:bodyPr>
          <a:lstStyle/>
          <a:p>
            <a:pPr algn="l">
              <a:lnSpc>
                <a:spcPct val="115000"/>
              </a:lnSpc>
            </a:pPr>
            <a:r>
              <a:rPr sz="1350" b="0" i="1">
                <a:solidFill>
                  <a:srgbClr val="6B748C"/>
                </a:solidFill>
                <a:latin typeface="Avenir Next"/>
              </a:rPr>
              <a:t>The first stage where Minds truly acts, not just assists.</a:t>
            </a:r>
          </a:p>
        </p:txBody>
      </p:sp>
      <p:sp>
        <p:nvSpPr>
          <p:cNvPr id="17" name="TextBox 16"/>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THE EVOLUTION · STAGE 3</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06 / 07</a:t>
            </a:r>
          </a:p>
        </p:txBody>
      </p:sp>
      <p:sp>
        <p:nvSpPr>
          <p:cNvPr id="5" name="TextBox 4"/>
          <p:cNvSpPr txBox="1"/>
          <p:nvPr/>
        </p:nvSpPr>
        <p:spPr>
          <a:xfrm>
            <a:off x="502920" y="914400"/>
            <a:ext cx="7772400" cy="640080"/>
          </a:xfrm>
          <a:prstGeom prst="rect">
            <a:avLst/>
          </a:prstGeom>
          <a:noFill/>
        </p:spPr>
        <p:txBody>
          <a:bodyPr wrap="square" anchor="t">
            <a:spAutoFit/>
          </a:bodyPr>
          <a:lstStyle/>
          <a:p>
            <a:pPr algn="l">
              <a:lnSpc>
                <a:spcPct val="115000"/>
              </a:lnSpc>
            </a:pPr>
            <a:r>
              <a:rPr sz="3200" b="1" i="0">
                <a:solidFill>
                  <a:srgbClr val="F2F4F8"/>
                </a:solidFill>
                <a:latin typeface="Avenir Next"/>
              </a:rPr>
              <a:t>Stage 3: Agent Mode</a:t>
            </a:r>
          </a:p>
        </p:txBody>
      </p:sp>
      <p:sp>
        <p:nvSpPr>
          <p:cNvPr id="6" name="Rounded Rectangle 5"/>
          <p:cNvSpPr/>
          <p:nvPr/>
        </p:nvSpPr>
        <p:spPr>
          <a:xfrm>
            <a:off x="9692640" y="987552"/>
            <a:ext cx="2505456" cy="292608"/>
          </a:xfrm>
          <a:prstGeom prst="roundRect">
            <a:avLst>
              <a:gd name="adj" fmla="val 50000"/>
            </a:avLst>
          </a:prstGeom>
          <a:solidFill>
            <a:srgbClr val="0B0F1A"/>
          </a:solidFill>
          <a:ln w="12700">
            <a:solidFill>
              <a:srgbClr val="5EE6C0"/>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5EE6C0"/>
                </a:solidFill>
                <a:latin typeface="Avenir Next"/>
              </a:rPr>
              <a:t>NEXT MILESTONE</a:t>
            </a:r>
          </a:p>
        </p:txBody>
      </p:sp>
      <p:sp>
        <p:nvSpPr>
          <p:cNvPr id="7" name="Rounded Rectangle 6"/>
          <p:cNvSpPr/>
          <p:nvPr/>
        </p:nvSpPr>
        <p:spPr>
          <a:xfrm>
            <a:off x="502920" y="1783080"/>
            <a:ext cx="5440680" cy="4206240"/>
          </a:xfrm>
          <a:prstGeom prst="roundRect">
            <a:avLst>
              <a:gd name="adj" fmla="val 5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4709160" cy="457200"/>
          </a:xfrm>
          <a:prstGeom prst="rect">
            <a:avLst/>
          </a:prstGeom>
          <a:noFill/>
        </p:spPr>
        <p:txBody>
          <a:bodyPr wrap="square" anchor="t">
            <a:spAutoFit/>
          </a:bodyPr>
          <a:lstStyle/>
          <a:p>
            <a:pPr algn="l">
              <a:lnSpc>
                <a:spcPct val="115000"/>
              </a:lnSpc>
            </a:pPr>
            <a:r>
              <a:rPr sz="1400" b="1" i="0">
                <a:solidFill>
                  <a:srgbClr val="6B748C"/>
                </a:solidFill>
                <a:latin typeface="Avenir Next"/>
              </a:rPr>
              <a:t>IN CODING</a:t>
            </a:r>
          </a:p>
        </p:txBody>
      </p:sp>
      <p:sp>
        <p:nvSpPr>
          <p:cNvPr id="9" name="TextBox 8"/>
          <p:cNvSpPr txBox="1"/>
          <p:nvPr/>
        </p:nvSpPr>
        <p:spPr>
          <a:xfrm>
            <a:off x="868680" y="2514600"/>
            <a:ext cx="4709160" cy="548640"/>
          </a:xfrm>
          <a:prstGeom prst="rect">
            <a:avLst/>
          </a:prstGeom>
          <a:noFill/>
        </p:spPr>
        <p:txBody>
          <a:bodyPr wrap="square" anchor="t">
            <a:spAutoFit/>
          </a:bodyPr>
          <a:lstStyle/>
          <a:p>
            <a:pPr algn="l">
              <a:lnSpc>
                <a:spcPct val="120000"/>
              </a:lnSpc>
            </a:pPr>
            <a:r>
              <a:rPr sz="1900" b="1" i="0">
                <a:solidFill>
                  <a:srgbClr val="A6AFC2"/>
                </a:solidFill>
                <a:latin typeface="Avenir Next"/>
              </a:rPr>
              <a:t>Long-running, autonomous, self-checking</a:t>
            </a:r>
          </a:p>
        </p:txBody>
      </p:sp>
      <p:sp>
        <p:nvSpPr>
          <p:cNvPr id="10" name="TextBox 9"/>
          <p:cNvSpPr txBox="1"/>
          <p:nvPr/>
        </p:nvSpPr>
        <p:spPr>
          <a:xfrm>
            <a:off x="868680" y="3200400"/>
            <a:ext cx="4709160" cy="2560320"/>
          </a:xfrm>
          <a:prstGeom prst="rect">
            <a:avLst/>
          </a:prstGeom>
          <a:noFill/>
        </p:spPr>
        <p:txBody>
          <a:bodyPr wrap="square">
            <a:spAutoFit/>
          </a:bodyPr>
          <a:lstStyle/>
          <a:p>
            <a:pPr>
              <a:lnSpc>
                <a:spcPct val="120000"/>
              </a:lnSpc>
              <a:spcAft>
                <a:spcPts val="1200"/>
              </a:spcAft>
            </a:pPr>
            <a:r>
              <a:rPr sz="1450">
                <a:solidFill>
                  <a:srgbClr val="A6AFC2"/>
                </a:solidFill>
                <a:latin typeface="Avenir Next"/>
              </a:rPr>
              <a:t>—  Not one session — a persistent, ongoing system</a:t>
            </a:r>
          </a:p>
          <a:p>
            <a:pPr>
              <a:lnSpc>
                <a:spcPct val="120000"/>
              </a:lnSpc>
              <a:spcAft>
                <a:spcPts val="1200"/>
              </a:spcAft>
            </a:pPr>
            <a:r>
              <a:rPr sz="1450">
                <a:solidFill>
                  <a:srgbClr val="A6AFC2"/>
                </a:solidFill>
                <a:latin typeface="Avenir Next"/>
              </a:rPr>
              <a:t>—  Checks and corrects its own work over time</a:t>
            </a:r>
          </a:p>
        </p:txBody>
      </p:sp>
      <p:sp>
        <p:nvSpPr>
          <p:cNvPr id="11" name="Rounded Rectangle 10"/>
          <p:cNvSpPr/>
          <p:nvPr/>
        </p:nvSpPr>
        <p:spPr>
          <a:xfrm>
            <a:off x="6263640" y="1783080"/>
            <a:ext cx="5440680" cy="4206240"/>
          </a:xfrm>
          <a:prstGeom prst="roundRect">
            <a:avLst>
              <a:gd name="adj" fmla="val 5000"/>
            </a:avLst>
          </a:prstGeom>
          <a:solidFill>
            <a:srgbClr val="18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73152" cy="4206240"/>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103120"/>
            <a:ext cx="4709160" cy="457200"/>
          </a:xfrm>
          <a:prstGeom prst="rect">
            <a:avLst/>
          </a:prstGeom>
          <a:noFill/>
        </p:spPr>
        <p:txBody>
          <a:bodyPr wrap="square" anchor="t">
            <a:spAutoFit/>
          </a:bodyPr>
          <a:lstStyle/>
          <a:p>
            <a:pPr algn="l">
              <a:lnSpc>
                <a:spcPct val="115000"/>
              </a:lnSpc>
            </a:pPr>
            <a:r>
              <a:rPr sz="1400" b="1" i="0">
                <a:solidFill>
                  <a:srgbClr val="5EE6C0"/>
                </a:solidFill>
                <a:latin typeface="Avenir Next"/>
              </a:rPr>
              <a:t>ON MINDS, IN LAUNCHMINDS</a:t>
            </a:r>
          </a:p>
        </p:txBody>
      </p:sp>
      <p:sp>
        <p:nvSpPr>
          <p:cNvPr id="14" name="TextBox 13"/>
          <p:cNvSpPr txBox="1"/>
          <p:nvPr/>
        </p:nvSpPr>
        <p:spPr>
          <a:xfrm>
            <a:off x="6629400" y="2514600"/>
            <a:ext cx="4709160" cy="548640"/>
          </a:xfrm>
          <a:prstGeom prst="rect">
            <a:avLst/>
          </a:prstGeom>
          <a:noFill/>
        </p:spPr>
        <p:txBody>
          <a:bodyPr wrap="square" anchor="t">
            <a:spAutoFit/>
          </a:bodyPr>
          <a:lstStyle/>
          <a:p>
            <a:pPr algn="l">
              <a:lnSpc>
                <a:spcPct val="120000"/>
              </a:lnSpc>
            </a:pPr>
            <a:r>
              <a:rPr sz="1900" b="1" i="0">
                <a:solidFill>
                  <a:srgbClr val="F2F4F8"/>
                </a:solidFill>
                <a:latin typeface="Avenir Next"/>
              </a:rPr>
              <a:t>A workspace of coordinating Minds</a:t>
            </a:r>
          </a:p>
        </p:txBody>
      </p:sp>
      <p:sp>
        <p:nvSpPr>
          <p:cNvPr id="15" name="TextBox 14"/>
          <p:cNvSpPr txBox="1"/>
          <p:nvPr/>
        </p:nvSpPr>
        <p:spPr>
          <a:xfrm>
            <a:off x="6629400" y="3200400"/>
            <a:ext cx="4709160" cy="2560320"/>
          </a:xfrm>
          <a:prstGeom prst="rect">
            <a:avLst/>
          </a:prstGeom>
          <a:noFill/>
        </p:spPr>
        <p:txBody>
          <a:bodyPr wrap="square">
            <a:spAutoFit/>
          </a:bodyPr>
          <a:lstStyle/>
          <a:p>
            <a:pPr>
              <a:lnSpc>
                <a:spcPct val="120000"/>
              </a:lnSpc>
              <a:spcAft>
                <a:spcPts val="1200"/>
              </a:spcAft>
            </a:pPr>
            <a:r>
              <a:rPr sz="1450">
                <a:solidFill>
                  <a:srgbClr val="F2F4F8"/>
                </a:solidFill>
                <a:latin typeface="Avenir Next"/>
              </a:rPr>
              <a:t>—  Per-project workspace: multiple Minds instances coordinating</a:t>
            </a:r>
          </a:p>
          <a:p>
            <a:pPr>
              <a:lnSpc>
                <a:spcPct val="120000"/>
              </a:lnSpc>
              <a:spcAft>
                <a:spcPts val="1200"/>
              </a:spcAft>
            </a:pPr>
            <a:r>
              <a:rPr sz="1450">
                <a:solidFill>
                  <a:srgbClr val="F2F4F8"/>
                </a:solidFill>
                <a:latin typeface="Avenir Next"/>
              </a:rPr>
              <a:t>—  No fixed pipeline of roles — the group's shape adapts to what the campaign needs</a:t>
            </a:r>
          </a:p>
          <a:p>
            <a:pPr>
              <a:lnSpc>
                <a:spcPct val="120000"/>
              </a:lnSpc>
              <a:spcAft>
                <a:spcPts val="1200"/>
              </a:spcAft>
            </a:pPr>
            <a:r>
              <a:rPr sz="1450">
                <a:solidFill>
                  <a:srgbClr val="F2F4F8"/>
                </a:solidFill>
                <a:latin typeface="Avenir Next"/>
              </a:rPr>
              <a:t>—  Where we push toward real multi-agent coordination on your platform</a:t>
            </a:r>
          </a:p>
        </p:txBody>
      </p:sp>
      <p:sp>
        <p:nvSpPr>
          <p:cNvPr id="16" name="TextBox 15"/>
          <p:cNvSpPr txBox="1"/>
          <p:nvPr/>
        </p:nvSpPr>
        <p:spPr>
          <a:xfrm>
            <a:off x="502920" y="6172200"/>
            <a:ext cx="10789920" cy="365760"/>
          </a:xfrm>
          <a:prstGeom prst="rect">
            <a:avLst/>
          </a:prstGeom>
          <a:noFill/>
        </p:spPr>
        <p:txBody>
          <a:bodyPr wrap="square" anchor="t">
            <a:spAutoFit/>
          </a:bodyPr>
          <a:lstStyle/>
          <a:p>
            <a:pPr algn="l">
              <a:lnSpc>
                <a:spcPct val="115000"/>
              </a:lnSpc>
            </a:pPr>
            <a:r>
              <a:rPr sz="1350" b="0" i="1">
                <a:solidFill>
                  <a:srgbClr val="6B748C"/>
                </a:solidFill>
                <a:latin typeface="Avenir Next"/>
              </a:rPr>
              <a:t>The clearest place you'll see what your platform makes possible.</a:t>
            </a:r>
          </a:p>
        </p:txBody>
      </p:sp>
      <p:sp>
        <p:nvSpPr>
          <p:cNvPr id="17" name="TextBox 16"/>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Built on Minds  ·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502920" y="475488"/>
            <a:ext cx="384048" cy="50292"/>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66928"/>
            <a:ext cx="7315200" cy="365760"/>
          </a:xfrm>
          <a:prstGeom prst="rect">
            <a:avLst/>
          </a:prstGeom>
          <a:noFill/>
        </p:spPr>
        <p:txBody>
          <a:bodyPr wrap="square" anchor="t">
            <a:spAutoFit/>
          </a:bodyPr>
          <a:lstStyle/>
          <a:p>
            <a:pPr algn="l">
              <a:lnSpc>
                <a:spcPct val="115000"/>
              </a:lnSpc>
            </a:pPr>
            <a:r>
              <a:rPr sz="1250" b="1" i="0">
                <a:solidFill>
                  <a:srgbClr val="A6AFC2"/>
                </a:solidFill>
                <a:latin typeface="Avenir Next"/>
              </a:rPr>
              <a:t>WHERE THIS GOES</a:t>
            </a:r>
          </a:p>
        </p:txBody>
      </p:sp>
      <p:sp>
        <p:nvSpPr>
          <p:cNvPr id="4" name="TextBox 3"/>
          <p:cNvSpPr txBox="1"/>
          <p:nvPr/>
        </p:nvSpPr>
        <p:spPr>
          <a:xfrm>
            <a:off x="10881360" y="502920"/>
            <a:ext cx="822960" cy="365760"/>
          </a:xfrm>
          <a:prstGeom prst="rect">
            <a:avLst/>
          </a:prstGeom>
          <a:noFill/>
        </p:spPr>
        <p:txBody>
          <a:bodyPr wrap="square" anchor="t">
            <a:spAutoFit/>
          </a:bodyPr>
          <a:lstStyle/>
          <a:p>
            <a:pPr algn="r">
              <a:lnSpc>
                <a:spcPct val="115000"/>
              </a:lnSpc>
            </a:pPr>
            <a:r>
              <a:rPr sz="1250" b="0" i="0">
                <a:solidFill>
                  <a:srgbClr val="6B748C"/>
                </a:solidFill>
                <a:latin typeface="Avenir Next"/>
              </a:rPr>
              <a:t>07 / 07</a:t>
            </a:r>
          </a:p>
        </p:txBody>
      </p:sp>
      <p:sp>
        <p:nvSpPr>
          <p:cNvPr id="5" name="TextBox 4"/>
          <p:cNvSpPr txBox="1"/>
          <p:nvPr/>
        </p:nvSpPr>
        <p:spPr>
          <a:xfrm>
            <a:off x="502920" y="914400"/>
            <a:ext cx="10515600" cy="640080"/>
          </a:xfrm>
          <a:prstGeom prst="rect">
            <a:avLst/>
          </a:prstGeom>
          <a:noFill/>
        </p:spPr>
        <p:txBody>
          <a:bodyPr wrap="square" anchor="t">
            <a:spAutoFit/>
          </a:bodyPr>
          <a:lstStyle/>
          <a:p>
            <a:pPr algn="l">
              <a:lnSpc>
                <a:spcPct val="115000"/>
              </a:lnSpc>
            </a:pPr>
            <a:r>
              <a:rPr sz="3200" b="1" i="0">
                <a:solidFill>
                  <a:srgbClr val="F2F4F8"/>
                </a:solidFill>
                <a:latin typeface="Avenir Next"/>
              </a:rPr>
              <a:t>Built on Minds — with Minds' community</a:t>
            </a:r>
          </a:p>
        </p:txBody>
      </p:sp>
      <p:sp>
        <p:nvSpPr>
          <p:cNvPr id="6" name="Rounded Rectangle 5"/>
          <p:cNvSpPr/>
          <p:nvPr/>
        </p:nvSpPr>
        <p:spPr>
          <a:xfrm>
            <a:off x="502920" y="1828800"/>
            <a:ext cx="3337560" cy="155448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3337560" cy="64008"/>
          </a:xfrm>
          <a:prstGeom prst="rect">
            <a:avLst/>
          </a:prstGeom>
          <a:solidFill>
            <a:srgbClr val="6B7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2788920" cy="365760"/>
          </a:xfrm>
          <a:prstGeom prst="rect">
            <a:avLst/>
          </a:prstGeom>
          <a:noFill/>
        </p:spPr>
        <p:txBody>
          <a:bodyPr wrap="square" anchor="t">
            <a:spAutoFit/>
          </a:bodyPr>
          <a:lstStyle/>
          <a:p>
            <a:pPr algn="l">
              <a:lnSpc>
                <a:spcPct val="115000"/>
              </a:lnSpc>
            </a:pPr>
            <a:r>
              <a:rPr sz="1500" b="1" i="0">
                <a:solidFill>
                  <a:srgbClr val="6B748C"/>
                </a:solidFill>
                <a:latin typeface="Avenir Next"/>
              </a:rPr>
              <a:t>Stage 1</a:t>
            </a:r>
          </a:p>
        </p:txBody>
      </p:sp>
      <p:sp>
        <p:nvSpPr>
          <p:cNvPr id="9" name="TextBox 8"/>
          <p:cNvSpPr txBox="1"/>
          <p:nvPr/>
        </p:nvSpPr>
        <p:spPr>
          <a:xfrm>
            <a:off x="777240" y="2423160"/>
            <a:ext cx="2788920" cy="548640"/>
          </a:xfrm>
          <a:prstGeom prst="rect">
            <a:avLst/>
          </a:prstGeom>
          <a:noFill/>
        </p:spPr>
        <p:txBody>
          <a:bodyPr wrap="square" anchor="t">
            <a:spAutoFit/>
          </a:bodyPr>
          <a:lstStyle/>
          <a:p>
            <a:pPr algn="l">
              <a:lnSpc>
                <a:spcPct val="115000"/>
              </a:lnSpc>
            </a:pPr>
            <a:r>
              <a:rPr sz="1700" b="1" i="0">
                <a:solidFill>
                  <a:srgbClr val="F2F4F8"/>
                </a:solidFill>
                <a:latin typeface="Avenir Next"/>
              </a:rPr>
              <a:t>Minds-assisted drafting</a:t>
            </a:r>
          </a:p>
        </p:txBody>
      </p:sp>
      <p:sp>
        <p:nvSpPr>
          <p:cNvPr id="10" name="Rounded Rectangle 9"/>
          <p:cNvSpPr/>
          <p:nvPr/>
        </p:nvSpPr>
        <p:spPr>
          <a:xfrm>
            <a:off x="777240" y="2971800"/>
            <a:ext cx="1042416" cy="292608"/>
          </a:xfrm>
          <a:prstGeom prst="roundRect">
            <a:avLst>
              <a:gd name="adj" fmla="val 50000"/>
            </a:avLst>
          </a:prstGeom>
          <a:solidFill>
            <a:srgbClr val="0B0F1A"/>
          </a:solidFill>
          <a:ln w="12700">
            <a:solidFill>
              <a:srgbClr val="6B748C"/>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6B748C"/>
                </a:solidFill>
                <a:latin typeface="Avenir Next"/>
              </a:rPr>
              <a:t>DONE</a:t>
            </a:r>
          </a:p>
        </p:txBody>
      </p:sp>
      <p:sp>
        <p:nvSpPr>
          <p:cNvPr id="11" name="Rounded Rectangle 10"/>
          <p:cNvSpPr/>
          <p:nvPr/>
        </p:nvSpPr>
        <p:spPr>
          <a:xfrm>
            <a:off x="4343400" y="1828800"/>
            <a:ext cx="3337560" cy="155448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828800"/>
            <a:ext cx="3337560" cy="64008"/>
          </a:xfrm>
          <a:prstGeom prst="rect">
            <a:avLst/>
          </a:prstGeom>
          <a:solidFill>
            <a:srgbClr val="7C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057400"/>
            <a:ext cx="2788920" cy="365760"/>
          </a:xfrm>
          <a:prstGeom prst="rect">
            <a:avLst/>
          </a:prstGeom>
          <a:noFill/>
        </p:spPr>
        <p:txBody>
          <a:bodyPr wrap="square" anchor="t">
            <a:spAutoFit/>
          </a:bodyPr>
          <a:lstStyle/>
          <a:p>
            <a:pPr algn="l">
              <a:lnSpc>
                <a:spcPct val="115000"/>
              </a:lnSpc>
            </a:pPr>
            <a:r>
              <a:rPr sz="1500" b="1" i="0">
                <a:solidFill>
                  <a:srgbClr val="7C9CFF"/>
                </a:solidFill>
                <a:latin typeface="Avenir Next"/>
              </a:rPr>
              <a:t>Stage 2</a:t>
            </a:r>
          </a:p>
        </p:txBody>
      </p:sp>
      <p:sp>
        <p:nvSpPr>
          <p:cNvPr id="14" name="TextBox 13"/>
          <p:cNvSpPr txBox="1"/>
          <p:nvPr/>
        </p:nvSpPr>
        <p:spPr>
          <a:xfrm>
            <a:off x="4617720" y="2423160"/>
            <a:ext cx="2788920" cy="548640"/>
          </a:xfrm>
          <a:prstGeom prst="rect">
            <a:avLst/>
          </a:prstGeom>
          <a:noFill/>
        </p:spPr>
        <p:txBody>
          <a:bodyPr wrap="square" anchor="t">
            <a:spAutoFit/>
          </a:bodyPr>
          <a:lstStyle/>
          <a:p>
            <a:pPr algn="l">
              <a:lnSpc>
                <a:spcPct val="115000"/>
              </a:lnSpc>
            </a:pPr>
            <a:r>
              <a:rPr sz="1700" b="1" i="0">
                <a:solidFill>
                  <a:srgbClr val="F2F4F8"/>
                </a:solidFill>
                <a:latin typeface="Avenir Next"/>
              </a:rPr>
              <a:t>One Mind, full session</a:t>
            </a:r>
          </a:p>
        </p:txBody>
      </p:sp>
      <p:sp>
        <p:nvSpPr>
          <p:cNvPr id="15" name="Rounded Rectangle 14"/>
          <p:cNvSpPr/>
          <p:nvPr/>
        </p:nvSpPr>
        <p:spPr>
          <a:xfrm>
            <a:off x="4617720" y="2971800"/>
            <a:ext cx="1188720" cy="292608"/>
          </a:xfrm>
          <a:prstGeom prst="roundRect">
            <a:avLst>
              <a:gd name="adj" fmla="val 50000"/>
            </a:avLst>
          </a:prstGeom>
          <a:solidFill>
            <a:srgbClr val="0B0F1A"/>
          </a:solidFill>
          <a:ln w="12700">
            <a:solidFill>
              <a:srgbClr val="7C9CFF"/>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7C9CFF"/>
                </a:solidFill>
                <a:latin typeface="Avenir Next"/>
              </a:rPr>
              <a:t>TODAY</a:t>
            </a:r>
          </a:p>
        </p:txBody>
      </p:sp>
      <p:sp>
        <p:nvSpPr>
          <p:cNvPr id="16" name="Rounded Rectangle 15"/>
          <p:cNvSpPr/>
          <p:nvPr/>
        </p:nvSpPr>
        <p:spPr>
          <a:xfrm>
            <a:off x="8183879" y="1828800"/>
            <a:ext cx="3337560" cy="1554480"/>
          </a:xfrm>
          <a:prstGeom prst="roundRect">
            <a:avLst>
              <a:gd name="adj" fmla="val 8000"/>
            </a:avLst>
          </a:prstGeom>
          <a:solidFill>
            <a:srgbClr val="14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828800"/>
            <a:ext cx="3337560" cy="64008"/>
          </a:xfrm>
          <a:prstGeom prst="rect">
            <a:avLst/>
          </a:prstGeom>
          <a:solidFill>
            <a:srgbClr val="5EE6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199" y="2057400"/>
            <a:ext cx="2788920" cy="365760"/>
          </a:xfrm>
          <a:prstGeom prst="rect">
            <a:avLst/>
          </a:prstGeom>
          <a:noFill/>
        </p:spPr>
        <p:txBody>
          <a:bodyPr wrap="square" anchor="t">
            <a:spAutoFit/>
          </a:bodyPr>
          <a:lstStyle/>
          <a:p>
            <a:pPr algn="l">
              <a:lnSpc>
                <a:spcPct val="115000"/>
              </a:lnSpc>
            </a:pPr>
            <a:r>
              <a:rPr sz="1500" b="1" i="0">
                <a:solidFill>
                  <a:srgbClr val="5EE6C0"/>
                </a:solidFill>
                <a:latin typeface="Avenir Next"/>
              </a:rPr>
              <a:t>Stage 3</a:t>
            </a:r>
          </a:p>
        </p:txBody>
      </p:sp>
      <p:sp>
        <p:nvSpPr>
          <p:cNvPr id="19" name="TextBox 18"/>
          <p:cNvSpPr txBox="1"/>
          <p:nvPr/>
        </p:nvSpPr>
        <p:spPr>
          <a:xfrm>
            <a:off x="8458199" y="2423160"/>
            <a:ext cx="2788920" cy="548640"/>
          </a:xfrm>
          <a:prstGeom prst="rect">
            <a:avLst/>
          </a:prstGeom>
          <a:noFill/>
        </p:spPr>
        <p:txBody>
          <a:bodyPr wrap="square" anchor="t">
            <a:spAutoFit/>
          </a:bodyPr>
          <a:lstStyle/>
          <a:p>
            <a:pPr algn="l">
              <a:lnSpc>
                <a:spcPct val="115000"/>
              </a:lnSpc>
            </a:pPr>
            <a:r>
              <a:rPr sz="1700" b="1" i="0">
                <a:solidFill>
                  <a:srgbClr val="F2F4F8"/>
                </a:solidFill>
                <a:latin typeface="Avenir Next"/>
              </a:rPr>
              <a:t>Multi-Mind workspace</a:t>
            </a:r>
          </a:p>
        </p:txBody>
      </p:sp>
      <p:sp>
        <p:nvSpPr>
          <p:cNvPr id="20" name="Rounded Rectangle 19"/>
          <p:cNvSpPr/>
          <p:nvPr/>
        </p:nvSpPr>
        <p:spPr>
          <a:xfrm>
            <a:off x="8458199" y="2971800"/>
            <a:ext cx="1042416" cy="292608"/>
          </a:xfrm>
          <a:prstGeom prst="roundRect">
            <a:avLst>
              <a:gd name="adj" fmla="val 50000"/>
            </a:avLst>
          </a:prstGeom>
          <a:solidFill>
            <a:srgbClr val="0B0F1A"/>
          </a:solidFill>
          <a:ln w="12700">
            <a:solidFill>
              <a:srgbClr val="5EE6C0"/>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1100" b="1">
                <a:solidFill>
                  <a:srgbClr val="5EE6C0"/>
                </a:solidFill>
                <a:latin typeface="Avenir Next"/>
              </a:rPr>
              <a:t>NEXT</a:t>
            </a:r>
          </a:p>
        </p:txBody>
      </p:sp>
      <p:sp>
        <p:nvSpPr>
          <p:cNvPr id="21" name="TextBox 20"/>
          <p:cNvSpPr txBox="1"/>
          <p:nvPr/>
        </p:nvSpPr>
        <p:spPr>
          <a:xfrm>
            <a:off x="502920" y="3657600"/>
            <a:ext cx="11155680" cy="822960"/>
          </a:xfrm>
          <a:prstGeom prst="rect">
            <a:avLst/>
          </a:prstGeom>
          <a:noFill/>
        </p:spPr>
        <p:txBody>
          <a:bodyPr wrap="square" anchor="t">
            <a:spAutoFit/>
          </a:bodyPr>
          <a:lstStyle/>
          <a:p>
            <a:pPr algn="l">
              <a:lnSpc>
                <a:spcPct val="130000"/>
              </a:lnSpc>
            </a:pPr>
            <a:r>
              <a:rPr sz="1900" b="0" i="1">
                <a:solidFill>
                  <a:srgbClr val="5EE6C0"/>
                </a:solidFill>
                <a:latin typeface="Avenir Next"/>
              </a:rPr>
              <a:t>Not an integration bolted on after the fact — built on Minds from day one.</a:t>
            </a:r>
          </a:p>
        </p:txBody>
      </p:sp>
      <p:sp>
        <p:nvSpPr>
          <p:cNvPr id="22" name="TextBox 21"/>
          <p:cNvSpPr txBox="1"/>
          <p:nvPr/>
        </p:nvSpPr>
        <p:spPr>
          <a:xfrm>
            <a:off x="502920" y="4434840"/>
            <a:ext cx="11155680" cy="1280160"/>
          </a:xfrm>
          <a:prstGeom prst="rect">
            <a:avLst/>
          </a:prstGeom>
          <a:noFill/>
        </p:spPr>
        <p:txBody>
          <a:bodyPr wrap="square" anchor="t">
            <a:spAutoFit/>
          </a:bodyPr>
          <a:lstStyle/>
          <a:p>
            <a:pPr algn="l">
              <a:lnSpc>
                <a:spcPct val="120000"/>
              </a:lnSpc>
            </a:pPr>
            <a:r>
              <a:rPr sz="2500" b="1" i="0">
                <a:solidFill>
                  <a:srgbClr val="F2F4F8"/>
                </a:solidFill>
                <a:latin typeface="Avenir Next"/>
              </a:rPr>
              <a:t>What gets built on top of a platform is the best answer</a:t>
            </a:r>
          </a:p>
          <a:p>
            <a:pPr algn="l">
              <a:lnSpc>
                <a:spcPct val="120000"/>
              </a:lnSpc>
            </a:pPr>
            <a:r>
              <a:rPr sz="2500" b="1" i="0">
                <a:solidFill>
                  <a:srgbClr val="F2F4F8"/>
                </a:solidFill>
                <a:latin typeface="Avenir Next"/>
              </a:rPr>
              <a:t>a platform can have.</a:t>
            </a:r>
          </a:p>
        </p:txBody>
      </p:sp>
      <p:sp>
        <p:nvSpPr>
          <p:cNvPr id="23" name="TextBox 22"/>
          <p:cNvSpPr txBox="1"/>
          <p:nvPr/>
        </p:nvSpPr>
        <p:spPr>
          <a:xfrm>
            <a:off x="502920" y="5623560"/>
            <a:ext cx="10515600" cy="548640"/>
          </a:xfrm>
          <a:prstGeom prst="rect">
            <a:avLst/>
          </a:prstGeom>
          <a:noFill/>
        </p:spPr>
        <p:txBody>
          <a:bodyPr wrap="square" anchor="t">
            <a:spAutoFit/>
          </a:bodyPr>
          <a:lstStyle/>
          <a:p>
            <a:pPr algn="l">
              <a:lnSpc>
                <a:spcPct val="115000"/>
              </a:lnSpc>
            </a:pPr>
            <a:r>
              <a:rPr sz="1550" b="0" i="1">
                <a:solidFill>
                  <a:srgbClr val="A6AFC2"/>
                </a:solidFill>
                <a:latin typeface="Avenir Next"/>
              </a:rPr>
              <a:t>We'd like to keep building that answer together — with your platform, and with your community.</a:t>
            </a:r>
          </a:p>
        </p:txBody>
      </p:sp>
      <p:sp>
        <p:nvSpPr>
          <p:cNvPr id="24" name="TextBox 23"/>
          <p:cNvSpPr txBox="1"/>
          <p:nvPr/>
        </p:nvSpPr>
        <p:spPr>
          <a:xfrm>
            <a:off x="502920" y="6144768"/>
            <a:ext cx="5486400" cy="365760"/>
          </a:xfrm>
          <a:prstGeom prst="rect">
            <a:avLst/>
          </a:prstGeom>
          <a:noFill/>
        </p:spPr>
        <p:txBody>
          <a:bodyPr wrap="square" anchor="t">
            <a:spAutoFit/>
          </a:bodyPr>
          <a:lstStyle/>
          <a:p>
            <a:pPr algn="l">
              <a:lnSpc>
                <a:spcPct val="115000"/>
              </a:lnSpc>
            </a:pPr>
            <a:r>
              <a:rPr sz="1600" b="0" i="1">
                <a:solidFill>
                  <a:srgbClr val="A6AFC2"/>
                </a:solidFill>
                <a:latin typeface="Avenir Next"/>
              </a:rPr>
              <a:t>Thank you.</a:t>
            </a:r>
          </a:p>
        </p:txBody>
      </p:sp>
      <p:sp>
        <p:nvSpPr>
          <p:cNvPr id="25" name="TextBox 24"/>
          <p:cNvSpPr txBox="1"/>
          <p:nvPr/>
        </p:nvSpPr>
        <p:spPr>
          <a:xfrm>
            <a:off x="502920" y="6492240"/>
            <a:ext cx="8229600" cy="274320"/>
          </a:xfrm>
          <a:prstGeom prst="rect">
            <a:avLst/>
          </a:prstGeom>
          <a:noFill/>
        </p:spPr>
        <p:txBody>
          <a:bodyPr wrap="square" anchor="t">
            <a:spAutoFit/>
          </a:bodyPr>
          <a:lstStyle/>
          <a:p>
            <a:pPr algn="l">
              <a:lnSpc>
                <a:spcPct val="115000"/>
              </a:lnSpc>
            </a:pPr>
            <a:r>
              <a:rPr sz="950" b="0" i="0">
                <a:solidFill>
                  <a:srgbClr val="6B748C"/>
                </a:solidFill>
                <a:latin typeface="Avenir Next"/>
              </a:rPr>
              <a:t>LaunchMinds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